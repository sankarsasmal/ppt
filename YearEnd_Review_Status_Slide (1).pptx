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0" d="100"/>
          <a:sy n="150" d="100"/>
        </p:scale>
        <p:origin x="126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73736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73152"/>
            <a:ext cx="9601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Year-End Performance Review 2026</a:t>
            </a:r>
            <a:endParaRPr lang="en-US" sz="2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30352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Sankar Sasmal  |  Sr. Associate Researcher, R&amp;D — Shell Bangalore  |  YTD Sept 2026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607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HIGHLIGHTS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353312"/>
            <a:ext cx="5545836" cy="1133856"/>
          </a:xfrm>
          <a:prstGeom prst="roundRect">
            <a:avLst>
              <a:gd name="adj" fmla="val 6452"/>
            </a:avLst>
          </a:prstGeom>
          <a:solidFill>
            <a:srgbClr val="1E2761"/>
          </a:solidFill>
          <a:ln/>
          <a:effectLst>
            <a:outerShdw blurRad="63500" dist="25400" dir="5400000" algn="bl" rotWithShape="0">
              <a:srgbClr val="9AA5B8">
                <a:alpha val="3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58368" y="1444752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1426464"/>
            <a:ext cx="46771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Zero-Capex Asset Upgrade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1792224"/>
            <a:ext cx="51435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3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Repurposed ILS-8 using internal resources — delivering high-pressure H₂ &amp; compressor-bypass flexibility without new capital investment or extended timelines.</a:t>
            </a:r>
            <a:endParaRPr lang="en-US" sz="930" dirty="0"/>
          </a:p>
        </p:txBody>
      </p:sp>
      <p:sp>
        <p:nvSpPr>
          <p:cNvPr id="10" name="Shape 8"/>
          <p:cNvSpPr/>
          <p:nvPr/>
        </p:nvSpPr>
        <p:spPr>
          <a:xfrm>
            <a:off x="6185916" y="1353312"/>
            <a:ext cx="5545836" cy="1133856"/>
          </a:xfrm>
          <a:prstGeom prst="roundRect">
            <a:avLst>
              <a:gd name="adj" fmla="val 6452"/>
            </a:avLst>
          </a:prstGeom>
          <a:solidFill>
            <a:srgbClr val="1E2761"/>
          </a:solidFill>
          <a:ln/>
          <a:effectLst>
            <a:outerShdw blurRad="63500" dist="25400" dir="5400000" algn="bl" rotWithShape="0">
              <a:srgbClr val="9AA5B8">
                <a:alpha val="3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387084" y="1444752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871716" y="1426464"/>
            <a:ext cx="46771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&gt;70% Uptime, Zero Disruption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387084" y="1792224"/>
            <a:ext cx="51435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3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Sustained ILS &amp; PID uptime above 70% while executing 3+ MOCs — keeping live BTCSR experimentation on schedule.</a:t>
            </a:r>
            <a:endParaRPr lang="en-US" sz="930" dirty="0"/>
          </a:p>
        </p:txBody>
      </p:sp>
      <p:sp>
        <p:nvSpPr>
          <p:cNvPr id="14" name="Shape 12"/>
          <p:cNvSpPr/>
          <p:nvPr/>
        </p:nvSpPr>
        <p:spPr>
          <a:xfrm>
            <a:off x="457200" y="2615184"/>
            <a:ext cx="5545836" cy="1133856"/>
          </a:xfrm>
          <a:prstGeom prst="roundRect">
            <a:avLst>
              <a:gd name="adj" fmla="val 6452"/>
            </a:avLst>
          </a:prstGeom>
          <a:solidFill>
            <a:srgbClr val="1E2761"/>
          </a:solidFill>
          <a:ln/>
          <a:effectLst>
            <a:outerShdw blurRad="63500" dist="25400" dir="5400000" algn="bl" rotWithShape="0">
              <a:srgbClr val="9AA5B8">
                <a:alpha val="30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58368" y="2706624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2688336"/>
            <a:ext cx="46771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Drove GP to Decision Review, Beyond Scope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58368" y="3054096"/>
            <a:ext cx="51435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3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Took ownership beyond defined scope to keep GP moving — proactively resolving DOE calculation hiccups with PLs and overcoming execution challenges through persistence.</a:t>
            </a:r>
            <a:endParaRPr lang="en-US" sz="930" dirty="0"/>
          </a:p>
        </p:txBody>
      </p:sp>
      <p:sp>
        <p:nvSpPr>
          <p:cNvPr id="18" name="Shape 16"/>
          <p:cNvSpPr/>
          <p:nvPr/>
        </p:nvSpPr>
        <p:spPr>
          <a:xfrm>
            <a:off x="6185916" y="2615184"/>
            <a:ext cx="5545836" cy="1133856"/>
          </a:xfrm>
          <a:prstGeom prst="roundRect">
            <a:avLst>
              <a:gd name="adj" fmla="val 6452"/>
            </a:avLst>
          </a:prstGeom>
          <a:solidFill>
            <a:srgbClr val="1E2761"/>
          </a:solidFill>
          <a:ln/>
          <a:effectLst>
            <a:outerShdw blurRad="63500" dist="25400" dir="5400000" algn="bl" rotWithShape="0">
              <a:srgbClr val="9AA5B8">
                <a:alpha val="30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6387084" y="2706624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871716" y="2688336"/>
            <a:ext cx="46771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PD's Reputation as Partner of Choice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387084" y="3054096"/>
            <a:ext cx="51435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3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cross-collaborative GP delivery and mentored colleagues in unit operations &amp; data analysis — strengthening team capability and establishing PD as stakeholders' go-to partner.</a:t>
            </a:r>
            <a:endParaRPr lang="en-US" sz="93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39136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GOALS — STATUS SNAPSHOT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4187952"/>
            <a:ext cx="2695194" cy="1110996"/>
          </a:xfrm>
          <a:prstGeom prst="roundRect">
            <a:avLst>
              <a:gd name="adj" fmla="val 4938"/>
            </a:avLst>
          </a:prstGeom>
          <a:solidFill>
            <a:srgbClr val="F7F8FB"/>
          </a:solidFill>
          <a:ln w="12700">
            <a:solidFill>
              <a:srgbClr val="E1E5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85216" y="4325112"/>
            <a:ext cx="73152" cy="73152"/>
          </a:xfrm>
          <a:prstGeom prst="ellipse">
            <a:avLst/>
          </a:prstGeom>
          <a:solidFill>
            <a:srgbClr val="2C6E49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94944" y="4251960"/>
            <a:ext cx="234772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Compliant</a:t>
            </a:r>
            <a:endParaRPr lang="en-US" sz="750" dirty="0"/>
          </a:p>
        </p:txBody>
      </p:sp>
      <p:sp>
        <p:nvSpPr>
          <p:cNvPr id="26" name="Text 24"/>
          <p:cNvSpPr txBox="1"/>
          <p:nvPr/>
        </p:nvSpPr>
        <p:spPr>
          <a:xfrm>
            <a:off x="585216" y="4443984"/>
            <a:ext cx="243916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3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 &amp; Responsible</a:t>
            </a:r>
            <a:endParaRPr lang="en-US" sz="1030" dirty="0"/>
          </a:p>
        </p:txBody>
      </p:sp>
      <p:sp>
        <p:nvSpPr>
          <p:cNvPr id="27" name="Text 25"/>
          <p:cNvSpPr txBox="1"/>
          <p:nvPr/>
        </p:nvSpPr>
        <p:spPr>
          <a:xfrm>
            <a:off x="585216" y="4791456"/>
            <a:ext cx="2439162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2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incidents; 20+ PTWs issued; 3-yr calibration completed.</a:t>
            </a:r>
            <a:endParaRPr lang="en-US" sz="820" dirty="0"/>
          </a:p>
        </p:txBody>
      </p:sp>
      <p:sp>
        <p:nvSpPr>
          <p:cNvPr id="28" name="Shape 26"/>
          <p:cNvSpPr/>
          <p:nvPr/>
        </p:nvSpPr>
        <p:spPr>
          <a:xfrm>
            <a:off x="3316986" y="4187952"/>
            <a:ext cx="2695194" cy="1110996"/>
          </a:xfrm>
          <a:prstGeom prst="roundRect">
            <a:avLst>
              <a:gd name="adj" fmla="val 4938"/>
            </a:avLst>
          </a:prstGeom>
          <a:solidFill>
            <a:srgbClr val="F7F8FB"/>
          </a:solidFill>
          <a:ln w="12700">
            <a:solidFill>
              <a:srgbClr val="E1E5E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445002" y="4325112"/>
            <a:ext cx="73152" cy="73152"/>
          </a:xfrm>
          <a:prstGeom prst="ellipse">
            <a:avLst/>
          </a:prstGeom>
          <a:solidFill>
            <a:srgbClr val="029391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3554730" y="4251960"/>
            <a:ext cx="234772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029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Track</a:t>
            </a:r>
            <a:endParaRPr lang="en-US" sz="750" dirty="0"/>
          </a:p>
        </p:txBody>
      </p:sp>
      <p:sp>
        <p:nvSpPr>
          <p:cNvPr id="31" name="Text 29"/>
          <p:cNvSpPr txBox="1"/>
          <p:nvPr/>
        </p:nvSpPr>
        <p:spPr>
          <a:xfrm>
            <a:off x="3445002" y="4443984"/>
            <a:ext cx="243916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3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Ethics &amp; Compliance</a:t>
            </a:r>
            <a:endParaRPr lang="en-US" sz="1030" dirty="0"/>
          </a:p>
        </p:txBody>
      </p:sp>
      <p:sp>
        <p:nvSpPr>
          <p:cNvPr id="32" name="Text 30"/>
          <p:cNvSpPr txBox="1"/>
          <p:nvPr/>
        </p:nvSpPr>
        <p:spPr>
          <a:xfrm>
            <a:off x="3445002" y="4791456"/>
            <a:ext cx="2439162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2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E&amp;C adherence; capability report closing by Nov.</a:t>
            </a:r>
            <a:endParaRPr lang="en-US" sz="820" dirty="0"/>
          </a:p>
        </p:txBody>
      </p:sp>
      <p:sp>
        <p:nvSpPr>
          <p:cNvPr id="33" name="Shape 31"/>
          <p:cNvSpPr/>
          <p:nvPr/>
        </p:nvSpPr>
        <p:spPr>
          <a:xfrm>
            <a:off x="6176772" y="4187952"/>
            <a:ext cx="2695194" cy="1110996"/>
          </a:xfrm>
          <a:prstGeom prst="roundRect">
            <a:avLst>
              <a:gd name="adj" fmla="val 4938"/>
            </a:avLst>
          </a:prstGeom>
          <a:solidFill>
            <a:srgbClr val="F7F8FB"/>
          </a:solidFill>
          <a:ln w="12700">
            <a:solidFill>
              <a:srgbClr val="E1E5E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04788" y="4325112"/>
            <a:ext cx="73152" cy="73152"/>
          </a:xfrm>
          <a:prstGeom prst="ellipse">
            <a:avLst/>
          </a:prstGeom>
          <a:solidFill>
            <a:srgbClr val="029391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414516" y="4251960"/>
            <a:ext cx="234772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029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Track</a:t>
            </a:r>
            <a:endParaRPr lang="en-US" sz="750" dirty="0"/>
          </a:p>
        </p:txBody>
      </p:sp>
      <p:sp>
        <p:nvSpPr>
          <p:cNvPr id="36" name="Text 34"/>
          <p:cNvSpPr txBox="1"/>
          <p:nvPr/>
        </p:nvSpPr>
        <p:spPr>
          <a:xfrm>
            <a:off x="6304788" y="4443984"/>
            <a:ext cx="243916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3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Thriving Community</a:t>
            </a:r>
            <a:endParaRPr lang="en-US" sz="1030" dirty="0"/>
          </a:p>
        </p:txBody>
      </p:sp>
      <p:sp>
        <p:nvSpPr>
          <p:cNvPr id="37" name="Text 35"/>
          <p:cNvSpPr txBox="1"/>
          <p:nvPr/>
        </p:nvSpPr>
        <p:spPr>
          <a:xfrm>
            <a:off x="6304788" y="4791456"/>
            <a:ext cx="2439162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2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Talk delivered; 8 connects coordinated; intern coached.</a:t>
            </a:r>
            <a:endParaRPr lang="en-US" sz="820" dirty="0"/>
          </a:p>
        </p:txBody>
      </p:sp>
      <p:sp>
        <p:nvSpPr>
          <p:cNvPr id="38" name="Shape 36"/>
          <p:cNvSpPr/>
          <p:nvPr/>
        </p:nvSpPr>
        <p:spPr>
          <a:xfrm>
            <a:off x="9036558" y="4187952"/>
            <a:ext cx="2695194" cy="1110996"/>
          </a:xfrm>
          <a:prstGeom prst="roundRect">
            <a:avLst>
              <a:gd name="adj" fmla="val 4938"/>
            </a:avLst>
          </a:prstGeom>
          <a:solidFill>
            <a:srgbClr val="F7F8FB"/>
          </a:solidFill>
          <a:ln w="12700">
            <a:solidFill>
              <a:srgbClr val="E1E5E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164574" y="4325112"/>
            <a:ext cx="73152" cy="73152"/>
          </a:xfrm>
          <a:prstGeom prst="ellipse">
            <a:avLst/>
          </a:prstGeom>
          <a:solidFill>
            <a:srgbClr val="029391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9274302" y="4251960"/>
            <a:ext cx="234772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029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Track</a:t>
            </a:r>
            <a:endParaRPr lang="en-US" sz="750" dirty="0"/>
          </a:p>
        </p:txBody>
      </p:sp>
      <p:sp>
        <p:nvSpPr>
          <p:cNvPr id="41" name="Text 39"/>
          <p:cNvSpPr txBox="1"/>
          <p:nvPr/>
        </p:nvSpPr>
        <p:spPr>
          <a:xfrm>
            <a:off x="9164574" y="4443984"/>
            <a:ext cx="243916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3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Value Delivery</a:t>
            </a:r>
            <a:endParaRPr lang="en-US" sz="1030" dirty="0"/>
          </a:p>
        </p:txBody>
      </p:sp>
      <p:sp>
        <p:nvSpPr>
          <p:cNvPr id="42" name="Text 40"/>
          <p:cNvSpPr txBox="1"/>
          <p:nvPr/>
        </p:nvSpPr>
        <p:spPr>
          <a:xfrm>
            <a:off x="9164574" y="4791456"/>
            <a:ext cx="2439162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2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Sustained ownership on GP toward Decision Review milestones.</a:t>
            </a:r>
            <a:endParaRPr lang="en-US" sz="820" dirty="0"/>
          </a:p>
        </p:txBody>
      </p:sp>
      <p:sp>
        <p:nvSpPr>
          <p:cNvPr id="43" name="Shape 41"/>
          <p:cNvSpPr/>
          <p:nvPr/>
        </p:nvSpPr>
        <p:spPr>
          <a:xfrm>
            <a:off x="457200" y="5426964"/>
            <a:ext cx="2695194" cy="1110996"/>
          </a:xfrm>
          <a:prstGeom prst="roundRect">
            <a:avLst>
              <a:gd name="adj" fmla="val 4938"/>
            </a:avLst>
          </a:prstGeom>
          <a:solidFill>
            <a:srgbClr val="F7F8FB"/>
          </a:solidFill>
          <a:ln w="12700">
            <a:solidFill>
              <a:srgbClr val="E1E5EE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85216" y="5564124"/>
            <a:ext cx="73152" cy="73152"/>
          </a:xfrm>
          <a:prstGeom prst="ellipse">
            <a:avLst/>
          </a:prstGeom>
          <a:solidFill>
            <a:srgbClr val="029391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694944" y="5490972"/>
            <a:ext cx="234772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029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Track</a:t>
            </a:r>
            <a:endParaRPr lang="en-US" sz="750" dirty="0"/>
          </a:p>
        </p:txBody>
      </p:sp>
      <p:sp>
        <p:nvSpPr>
          <p:cNvPr id="46" name="Text 44"/>
          <p:cNvSpPr txBox="1"/>
          <p:nvPr/>
        </p:nvSpPr>
        <p:spPr>
          <a:xfrm>
            <a:off x="585216" y="5682996"/>
            <a:ext cx="243916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3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Operational Excellence</a:t>
            </a:r>
            <a:endParaRPr lang="en-US" sz="1030" dirty="0"/>
          </a:p>
        </p:txBody>
      </p:sp>
      <p:sp>
        <p:nvSpPr>
          <p:cNvPr id="47" name="Text 45"/>
          <p:cNvSpPr txBox="1"/>
          <p:nvPr/>
        </p:nvSpPr>
        <p:spPr>
          <a:xfrm>
            <a:off x="585216" y="6030468"/>
            <a:ext cx="2439162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2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digitalization underway across assigned units.</a:t>
            </a:r>
            <a:endParaRPr lang="en-US" sz="820" dirty="0"/>
          </a:p>
        </p:txBody>
      </p:sp>
      <p:sp>
        <p:nvSpPr>
          <p:cNvPr id="48" name="Shape 46"/>
          <p:cNvSpPr/>
          <p:nvPr/>
        </p:nvSpPr>
        <p:spPr>
          <a:xfrm>
            <a:off x="3316986" y="5426964"/>
            <a:ext cx="2695194" cy="1110996"/>
          </a:xfrm>
          <a:prstGeom prst="roundRect">
            <a:avLst>
              <a:gd name="adj" fmla="val 4938"/>
            </a:avLst>
          </a:prstGeom>
          <a:solidFill>
            <a:srgbClr val="F7F8FB"/>
          </a:solidFill>
          <a:ln w="12700">
            <a:solidFill>
              <a:srgbClr val="E1E5EE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445002" y="5564124"/>
            <a:ext cx="73152" cy="73152"/>
          </a:xfrm>
          <a:prstGeom prst="ellipse">
            <a:avLst/>
          </a:prstGeom>
          <a:solidFill>
            <a:srgbClr val="029391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3554730" y="5490972"/>
            <a:ext cx="234772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029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Track</a:t>
            </a:r>
            <a:endParaRPr lang="en-US" sz="750" dirty="0"/>
          </a:p>
        </p:txBody>
      </p:sp>
      <p:sp>
        <p:nvSpPr>
          <p:cNvPr id="51" name="Text 49"/>
          <p:cNvSpPr txBox="1"/>
          <p:nvPr/>
        </p:nvSpPr>
        <p:spPr>
          <a:xfrm>
            <a:off x="3445002" y="5682996"/>
            <a:ext cx="243916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3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&amp; Project Excellence</a:t>
            </a:r>
            <a:endParaRPr lang="en-US" sz="1030" dirty="0"/>
          </a:p>
        </p:txBody>
      </p:sp>
      <p:sp>
        <p:nvSpPr>
          <p:cNvPr id="52" name="Text 50"/>
          <p:cNvSpPr txBox="1"/>
          <p:nvPr/>
        </p:nvSpPr>
        <p:spPr>
          <a:xfrm>
            <a:off x="3445002" y="6030468"/>
            <a:ext cx="2439162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2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 submitted; featured in PD-Townhall &amp; Coffee Corner.</a:t>
            </a:r>
            <a:endParaRPr lang="en-US" sz="820" dirty="0"/>
          </a:p>
        </p:txBody>
      </p:sp>
      <p:sp>
        <p:nvSpPr>
          <p:cNvPr id="53" name="Shape 51"/>
          <p:cNvSpPr/>
          <p:nvPr/>
        </p:nvSpPr>
        <p:spPr>
          <a:xfrm>
            <a:off x="6176772" y="5426964"/>
            <a:ext cx="2695194" cy="1110996"/>
          </a:xfrm>
          <a:prstGeom prst="roundRect">
            <a:avLst>
              <a:gd name="adj" fmla="val 4938"/>
            </a:avLst>
          </a:prstGeom>
          <a:solidFill>
            <a:srgbClr val="F7F8FB"/>
          </a:solidFill>
          <a:ln w="12700">
            <a:solidFill>
              <a:srgbClr val="E1E5EE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304788" y="5564124"/>
            <a:ext cx="73152" cy="73152"/>
          </a:xfrm>
          <a:prstGeom prst="ellipse">
            <a:avLst/>
          </a:prstGeom>
          <a:solidFill>
            <a:srgbClr val="029391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6414516" y="5490972"/>
            <a:ext cx="234772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029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Track</a:t>
            </a:r>
            <a:endParaRPr lang="en-US" sz="750" dirty="0"/>
          </a:p>
        </p:txBody>
      </p:sp>
      <p:sp>
        <p:nvSpPr>
          <p:cNvPr id="56" name="Text 54"/>
          <p:cNvSpPr txBox="1"/>
          <p:nvPr/>
        </p:nvSpPr>
        <p:spPr>
          <a:xfrm>
            <a:off x="6304788" y="5682996"/>
            <a:ext cx="243916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3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People Development</a:t>
            </a:r>
            <a:endParaRPr lang="en-US" sz="1030" dirty="0"/>
          </a:p>
        </p:txBody>
      </p:sp>
      <p:sp>
        <p:nvSpPr>
          <p:cNvPr id="57" name="Text 55"/>
          <p:cNvSpPr txBox="1"/>
          <p:nvPr/>
        </p:nvSpPr>
        <p:spPr>
          <a:xfrm>
            <a:off x="6304788" y="6030468"/>
            <a:ext cx="2439162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2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Backup-operator training done; BTCSR certification in progress.</a:t>
            </a:r>
            <a:endParaRPr lang="en-US" sz="820" dirty="0"/>
          </a:p>
        </p:txBody>
      </p:sp>
      <p:sp>
        <p:nvSpPr>
          <p:cNvPr id="58" name="Shape 56"/>
          <p:cNvSpPr/>
          <p:nvPr/>
        </p:nvSpPr>
        <p:spPr>
          <a:xfrm>
            <a:off x="9036558" y="5426964"/>
            <a:ext cx="2695194" cy="1110996"/>
          </a:xfrm>
          <a:prstGeom prst="roundRect">
            <a:avLst>
              <a:gd name="adj" fmla="val 4938"/>
            </a:avLst>
          </a:prstGeom>
          <a:solidFill>
            <a:srgbClr val="F7F8FB"/>
          </a:solidFill>
          <a:ln w="12700">
            <a:solidFill>
              <a:srgbClr val="E1E5EE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9164574" y="5564124"/>
            <a:ext cx="73152" cy="73152"/>
          </a:xfrm>
          <a:prstGeom prst="ellipse">
            <a:avLst/>
          </a:prstGeom>
          <a:solidFill>
            <a:srgbClr val="029391"/>
          </a:solidFill>
          <a:ln/>
        </p:spPr>
      </p:sp>
      <p:sp>
        <p:nvSpPr>
          <p:cNvPr id="60" name="Text 58"/>
          <p:cNvSpPr txBox="1"/>
          <p:nvPr/>
        </p:nvSpPr>
        <p:spPr>
          <a:xfrm>
            <a:off x="9274302" y="5490972"/>
            <a:ext cx="234772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029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Track</a:t>
            </a:r>
            <a:endParaRPr lang="en-US" sz="750" dirty="0"/>
          </a:p>
        </p:txBody>
      </p:sp>
      <p:sp>
        <p:nvSpPr>
          <p:cNvPr id="61" name="Text 59"/>
          <p:cNvSpPr txBox="1"/>
          <p:nvPr/>
        </p:nvSpPr>
        <p:spPr>
          <a:xfrm>
            <a:off x="9164574" y="5682996"/>
            <a:ext cx="243916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3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Fit for the Future</a:t>
            </a:r>
            <a:endParaRPr lang="en-US" sz="1030" dirty="0"/>
          </a:p>
        </p:txBody>
      </p:sp>
      <p:sp>
        <p:nvSpPr>
          <p:cNvPr id="62" name="Text 60"/>
          <p:cNvSpPr txBox="1"/>
          <p:nvPr/>
        </p:nvSpPr>
        <p:spPr>
          <a:xfrm>
            <a:off x="9164574" y="6030468"/>
            <a:ext cx="2439162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2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Digitalization platform on track for Dec; guiding intern.</a:t>
            </a:r>
            <a:endParaRPr lang="en-US" sz="820" dirty="0"/>
          </a:p>
        </p:txBody>
      </p:sp>
      <p:sp>
        <p:nvSpPr>
          <p:cNvPr id="63" name="Text 61"/>
          <p:cNvSpPr txBox="1"/>
          <p:nvPr/>
        </p:nvSpPr>
        <p:spPr>
          <a:xfrm>
            <a:off x="457200" y="6583680"/>
            <a:ext cx="11274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889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Year-End Review Discussion  •  Confidential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db1e96a8-a3da-442a-930b-235cac24cd5c}" enabled="0" method="" siteId="{db1e96a8-a3da-442a-930b-235cac24cd5c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275</Words>
  <Application>Microsoft Office PowerPoint</Application>
  <PresentationFormat>Widescreen</PresentationFormat>
  <Paragraphs>42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Cambria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Sasmal, Sankar PTIN-DRX/D/L/D</cp:lastModifiedBy>
  <cp:revision>1</cp:revision>
  <dcterms:created xsi:type="dcterms:W3CDTF">2026-09-22T15:31:09Z</dcterms:created>
  <dcterms:modified xsi:type="dcterms:W3CDTF">2026-09-23T03:49:52Z</dcterms:modified>
</cp:coreProperties>
</file>