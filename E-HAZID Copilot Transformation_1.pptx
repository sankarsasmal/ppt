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60" r:id="rId3"/>
    <p:sldId id="262" r:id="rId4"/>
    <p:sldId id="261" r:id="rId5"/>
  </p:sldIdLst>
  <p:sldSz cx="12192000" cy="6858000"/>
  <p:notesSz cx="6858000" cy="9144000"/>
  <p:embeddedFontLst>
    <p:embeddedFont>
      <p:font typeface="Inter" panose="02000503000000020004" pitchFamily="2" charset="0"/>
      <p:regular r:id="rId6"/>
      <p:bold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599" y="838200"/>
            <a:ext cx="10972800" cy="28575"/>
          </a:xfrm>
          <a:prstGeom prst="rect">
            <a:avLst/>
          </a:prstGeom>
          <a:solidFill>
            <a:srgbClr val="FBD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270599"/>
            <a:ext cx="10972800" cy="11430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5270599"/>
            <a:ext cx="38100" cy="1143000"/>
          </a:xfrm>
          <a:prstGeom prst="rect">
            <a:avLst/>
          </a:prstGeom>
          <a:solidFill>
            <a:srgbClr val="D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32997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298215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461099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82441"/>
            <a:ext cx="667895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A1A1A"/>
                </a:solidFill>
                <a:latin typeface="Inter"/>
              </a:rPr>
              <a:t>WHY NOW?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019175"/>
            <a:ext cx="6100762" cy="1508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DD1D21"/>
                </a:solidFill>
                <a:latin typeface="Inter"/>
              </a:rPr>
              <a:t>Fewer Skids, Broader Remit, Faster MOC Cadence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0ECCEF9-B0EB-8FEF-81A6-B2FEB8B708CF}"/>
              </a:ext>
            </a:extLst>
          </p:cNvPr>
          <p:cNvGrpSpPr/>
          <p:nvPr/>
        </p:nvGrpSpPr>
        <p:grpSpPr>
          <a:xfrm>
            <a:off x="609600" y="2478344"/>
            <a:ext cx="7503318" cy="479970"/>
            <a:chOff x="609600" y="2832645"/>
            <a:chExt cx="7503318" cy="479970"/>
          </a:xfrm>
        </p:grpSpPr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2870745"/>
              <a:ext cx="200025" cy="22860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962025" y="2832645"/>
              <a:ext cx="7150893" cy="228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1" i="0" u="none" dirty="0">
                  <a:solidFill>
                    <a:srgbClr val="1A1A1A"/>
                  </a:solidFill>
                  <a:latin typeface="Inter"/>
                </a:rPr>
                <a:t>Lab consolidation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2025" y="3099345"/>
              <a:ext cx="6810375" cy="21327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sz="1200" b="0" i="0" u="none">
                  <a:solidFill>
                    <a:srgbClr val="4A4A4A"/>
                  </a:solidFill>
                  <a:latin typeface="Inter"/>
                </a:rPr>
                <a:t>Fewer capability units in service, each carrying a broader remit than before.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62025" y="3294897"/>
            <a:ext cx="817856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Inter"/>
              </a:rPr>
              <a:t>Capability-based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3561597"/>
            <a:ext cx="6326534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4A4A4A"/>
                </a:solidFill>
                <a:latin typeface="Inter"/>
              </a:rPr>
              <a:t>The same skid now serves ad hoc requests across very different chemistries, not one fixed process. Every new chemistry or envelope change triggers its own MOC cycle.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" y="4260115"/>
            <a:ext cx="814105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Inter"/>
              </a:rPr>
              <a:t>Review bottleneck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4526815"/>
            <a:ext cx="629795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4A4A4A"/>
                </a:solidFill>
                <a:latin typeface="Inter"/>
              </a:rPr>
              <a:t>Manual hazard-basis prep can't keep pace with an ad hoc, high-frequency request cadence.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1100" y="5422999"/>
            <a:ext cx="769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A1A1A"/>
                </a:solidFill>
                <a:latin typeface="Inter"/>
              </a:rPr>
              <a:t>Frequent MOCs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100" y="5692939"/>
            <a:ext cx="10210800" cy="3935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1A1A1A"/>
                </a:solidFill>
                <a:latin typeface="Inter"/>
              </a:rPr>
              <a:t>The result: safety review volume and frequency are rising faster than headcount can absorb them — the same shared capability now needs an </a:t>
            </a:r>
            <a:r>
              <a:rPr sz="1125" b="1" i="0" u="none" dirty="0" err="1">
                <a:solidFill>
                  <a:srgbClr val="1A1A1A"/>
                </a:solidFill>
                <a:latin typeface="Inter"/>
              </a:rPr>
              <a:t>SafetyLens</a:t>
            </a:r>
            <a:r>
              <a:rPr sz="1125" b="0" i="0" u="none" dirty="0">
                <a:solidFill>
                  <a:srgbClr val="1A1A1A"/>
                </a:solidFill>
                <a:latin typeface="Inter"/>
              </a:rPr>
              <a:t> basis prepared far more often than the old.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C4D533B-8D62-E429-787B-F424AE63C5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351273" y="1764775"/>
            <a:ext cx="4696711" cy="31311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FECD0C-4FB1-8CD1-C1B7-53C87FAB4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302D763-D72A-D957-8351-A3E8530A9AF2}"/>
              </a:ext>
            </a:extLst>
          </p:cNvPr>
          <p:cNvSpPr txBox="1"/>
          <p:nvPr/>
        </p:nvSpPr>
        <p:spPr>
          <a:xfrm>
            <a:off x="609600" y="591494"/>
            <a:ext cx="66789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400" b="1" i="0" u="none">
                <a:solidFill>
                  <a:srgbClr val="1A1A1A"/>
                </a:solidFill>
                <a:latin typeface="Inter"/>
              </a:defRPr>
            </a:lvl1pPr>
          </a:lstStyle>
          <a:p>
            <a:r>
              <a:rPr lang="en-IN" dirty="0"/>
              <a:t>What It Is ?</a:t>
            </a:r>
            <a:endParaRPr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B65D4C4-4B95-C6BC-196E-AA1CDE379F3B}"/>
              </a:ext>
            </a:extLst>
          </p:cNvPr>
          <p:cNvGrpSpPr/>
          <p:nvPr/>
        </p:nvGrpSpPr>
        <p:grpSpPr>
          <a:xfrm>
            <a:off x="9011841" y="5852609"/>
            <a:ext cx="2799159" cy="828675"/>
            <a:chOff x="9201150" y="5813524"/>
            <a:chExt cx="2799159" cy="82867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E47EA1A-934E-7500-36C3-AA8FD1713A60}"/>
                </a:ext>
              </a:extLst>
            </p:cNvPr>
            <p:cNvSpPr/>
            <p:nvPr/>
          </p:nvSpPr>
          <p:spPr>
            <a:xfrm>
              <a:off x="9201150" y="5813524"/>
              <a:ext cx="2609850" cy="828675"/>
            </a:xfrm>
            <a:prstGeom prst="roundRect">
              <a:avLst>
                <a:gd name="adj" fmla="val 459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2" name="Picture 11" descr="image.png">
              <a:extLst>
                <a:ext uri="{FF2B5EF4-FFF2-40B4-BE49-F238E27FC236}">
                  <a16:creationId xmlns:a16="http://schemas.microsoft.com/office/drawing/2014/main" id="{11CAE300-E28F-3598-4858-726B5ACA2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05950" y="6075461"/>
              <a:ext cx="304800" cy="3048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012950-2566-DBD1-AFC6-508E7451D627}"/>
                </a:ext>
              </a:extLst>
            </p:cNvPr>
            <p:cNvSpPr txBox="1"/>
            <p:nvPr/>
          </p:nvSpPr>
          <p:spPr>
            <a:xfrm>
              <a:off x="9925050" y="6042124"/>
              <a:ext cx="2075259" cy="3714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400" b="1" i="0" u="none">
                  <a:solidFill>
                    <a:srgbClr val="DD1D21"/>
                  </a:solidFill>
                  <a:latin typeface="Inter"/>
                </a:rPr>
                <a:t>safety</a:t>
              </a:r>
              <a:r>
                <a:rPr sz="2400" b="1" i="0" u="none">
                  <a:latin typeface="Inter"/>
                </a:rPr>
                <a:t>Lens</a:t>
              </a:r>
            </a:p>
          </p:txBody>
        </p:sp>
      </p:grpSp>
      <p:pic>
        <p:nvPicPr>
          <p:cNvPr id="51" name="Picture Placeholder 52">
            <a:extLst>
              <a:ext uri="{FF2B5EF4-FFF2-40B4-BE49-F238E27FC236}">
                <a16:creationId xmlns:a16="http://schemas.microsoft.com/office/drawing/2014/main" id="{8064AFFB-F271-7CB9-A0DF-718EECF62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3" r="20173"/>
          <a:stretch>
            <a:fillRect/>
          </a:stretch>
        </p:blipFill>
        <p:spPr>
          <a:xfrm>
            <a:off x="7788276" y="2689615"/>
            <a:ext cx="3171825" cy="2991212"/>
          </a:xfrm>
          <a:custGeom>
            <a:avLst/>
            <a:gdLst>
              <a:gd name="csX0" fmla="*/ 0 w 3171825"/>
              <a:gd name="csY0" fmla="*/ 0 h 2991212"/>
              <a:gd name="csX1" fmla="*/ 3171825 w 3171825"/>
              <a:gd name="csY1" fmla="*/ 0 h 2991212"/>
              <a:gd name="csX2" fmla="*/ 3171825 w 3171825"/>
              <a:gd name="csY2" fmla="*/ 2991212 h 2991212"/>
              <a:gd name="csX3" fmla="*/ 0 w 3171825"/>
              <a:gd name="csY3" fmla="*/ 2991212 h 2991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1825" h="2991212">
                <a:moveTo>
                  <a:pt x="0" y="0"/>
                </a:moveTo>
                <a:lnTo>
                  <a:pt x="3171825" y="0"/>
                </a:lnTo>
                <a:lnTo>
                  <a:pt x="3171825" y="2991212"/>
                </a:lnTo>
                <a:lnTo>
                  <a:pt x="0" y="2991212"/>
                </a:lnTo>
                <a:close/>
              </a:path>
            </a:pathLst>
          </a:custGeom>
        </p:spPr>
      </p:pic>
      <p:pic>
        <p:nvPicPr>
          <p:cNvPr id="52" name="Picture Placeholder 50">
            <a:extLst>
              <a:ext uri="{FF2B5EF4-FFF2-40B4-BE49-F238E27FC236}">
                <a16:creationId xmlns:a16="http://schemas.microsoft.com/office/drawing/2014/main" id="{CB6705CE-F65C-9699-D684-4AA70B4A4D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3" r="20173"/>
          <a:stretch>
            <a:fillRect/>
          </a:stretch>
        </p:blipFill>
        <p:spPr>
          <a:xfrm>
            <a:off x="4511676" y="2689615"/>
            <a:ext cx="3171825" cy="2991212"/>
          </a:xfrm>
          <a:custGeom>
            <a:avLst/>
            <a:gdLst>
              <a:gd name="csX0" fmla="*/ 0 w 3171825"/>
              <a:gd name="csY0" fmla="*/ 0 h 2991212"/>
              <a:gd name="csX1" fmla="*/ 3171825 w 3171825"/>
              <a:gd name="csY1" fmla="*/ 0 h 2991212"/>
              <a:gd name="csX2" fmla="*/ 3171825 w 3171825"/>
              <a:gd name="csY2" fmla="*/ 2991212 h 2991212"/>
              <a:gd name="csX3" fmla="*/ 0 w 3171825"/>
              <a:gd name="csY3" fmla="*/ 2991212 h 2991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1825" h="2991212">
                <a:moveTo>
                  <a:pt x="0" y="0"/>
                </a:moveTo>
                <a:lnTo>
                  <a:pt x="3171825" y="0"/>
                </a:lnTo>
                <a:lnTo>
                  <a:pt x="3171825" y="2991212"/>
                </a:lnTo>
                <a:lnTo>
                  <a:pt x="0" y="2991212"/>
                </a:lnTo>
                <a:close/>
              </a:path>
            </a:pathLst>
          </a:custGeom>
        </p:spPr>
      </p:pic>
      <p:pic>
        <p:nvPicPr>
          <p:cNvPr id="53" name="Picture Placeholder 48">
            <a:extLst>
              <a:ext uri="{FF2B5EF4-FFF2-40B4-BE49-F238E27FC236}">
                <a16:creationId xmlns:a16="http://schemas.microsoft.com/office/drawing/2014/main" id="{7D3F31F9-596C-6DCA-A006-99BDEB1A4D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3" r="20173"/>
          <a:stretch>
            <a:fillRect/>
          </a:stretch>
        </p:blipFill>
        <p:spPr>
          <a:xfrm>
            <a:off x="1235075" y="2689615"/>
            <a:ext cx="3171825" cy="2991212"/>
          </a:xfrm>
          <a:custGeom>
            <a:avLst/>
            <a:gdLst>
              <a:gd name="csX0" fmla="*/ 0 w 3171825"/>
              <a:gd name="csY0" fmla="*/ 0 h 2991212"/>
              <a:gd name="csX1" fmla="*/ 3171825 w 3171825"/>
              <a:gd name="csY1" fmla="*/ 0 h 2991212"/>
              <a:gd name="csX2" fmla="*/ 3171825 w 3171825"/>
              <a:gd name="csY2" fmla="*/ 2991212 h 2991212"/>
              <a:gd name="csX3" fmla="*/ 0 w 3171825"/>
              <a:gd name="csY3" fmla="*/ 2991212 h 2991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1825" h="2991212">
                <a:moveTo>
                  <a:pt x="0" y="0"/>
                </a:moveTo>
                <a:lnTo>
                  <a:pt x="3171825" y="0"/>
                </a:lnTo>
                <a:lnTo>
                  <a:pt x="3171825" y="2991212"/>
                </a:lnTo>
                <a:lnTo>
                  <a:pt x="0" y="2991212"/>
                </a:lnTo>
                <a:close/>
              </a:path>
            </a:pathLst>
          </a:cu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13C5DDF-A5E4-D5D9-2BE8-20FF2E6191D9}"/>
              </a:ext>
            </a:extLst>
          </p:cNvPr>
          <p:cNvSpPr/>
          <p:nvPr/>
        </p:nvSpPr>
        <p:spPr>
          <a:xfrm>
            <a:off x="4511675" y="2689615"/>
            <a:ext cx="3171825" cy="2991212"/>
          </a:xfrm>
          <a:prstGeom prst="rect">
            <a:avLst/>
          </a:prstGeom>
          <a:gradFill>
            <a:gsLst>
              <a:gs pos="0">
                <a:srgbClr val="FED400">
                  <a:lumMod val="91000"/>
                </a:srgbClr>
              </a:gs>
              <a:gs pos="92000">
                <a:srgbClr val="FED400">
                  <a:lumMod val="50000"/>
                  <a:alpha val="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A8124F-D676-7E00-4DCF-D56856A46697}"/>
              </a:ext>
            </a:extLst>
          </p:cNvPr>
          <p:cNvSpPr txBox="1"/>
          <p:nvPr/>
        </p:nvSpPr>
        <p:spPr>
          <a:xfrm>
            <a:off x="5792546" y="1071283"/>
            <a:ext cx="516437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/>
            <a:r>
              <a:rPr lang="en-US" sz="4400" b="1" dirty="0">
                <a:solidFill>
                  <a:srgbClr val="ED1C23"/>
                </a:solidFill>
                <a:latin typeface="Red Hat Display"/>
              </a:rPr>
              <a:t>Why the Draft Can Be Trusted ?</a:t>
            </a:r>
            <a:endParaRPr lang="en-IN" sz="4400" b="1" dirty="0">
              <a:solidFill>
                <a:srgbClr val="ED1C23"/>
              </a:solidFill>
              <a:latin typeface="Red Hat Display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2DD17C-C5CA-320B-9DF2-5995F37734DA}"/>
              </a:ext>
            </a:extLst>
          </p:cNvPr>
          <p:cNvSpPr txBox="1"/>
          <p:nvPr/>
        </p:nvSpPr>
        <p:spPr>
          <a:xfrm>
            <a:off x="1176080" y="1111758"/>
            <a:ext cx="3010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</a:rPr>
              <a:t>The tool drafts the basis; it never accepts the risk. 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3C822ED-38E2-EFC9-0EA5-FBEE701EBB8A}"/>
              </a:ext>
            </a:extLst>
          </p:cNvPr>
          <p:cNvSpPr/>
          <p:nvPr/>
        </p:nvSpPr>
        <p:spPr>
          <a:xfrm>
            <a:off x="1235075" y="2689615"/>
            <a:ext cx="3171825" cy="2991212"/>
          </a:xfrm>
          <a:prstGeom prst="rect">
            <a:avLst/>
          </a:prstGeom>
          <a:gradFill flip="none" rotWithShape="1">
            <a:gsLst>
              <a:gs pos="0">
                <a:srgbClr val="ED1C23">
                  <a:lumMod val="93000"/>
                </a:srgbClr>
              </a:gs>
              <a:gs pos="92000">
                <a:srgbClr val="ED1C23">
                  <a:lumMod val="50000"/>
                  <a:alpha val="0"/>
                </a:srgbClr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D21DEDB-2D00-3436-0646-EC8245BA6CF1}"/>
              </a:ext>
            </a:extLst>
          </p:cNvPr>
          <p:cNvSpPr/>
          <p:nvPr/>
        </p:nvSpPr>
        <p:spPr>
          <a:xfrm>
            <a:off x="7788275" y="2689615"/>
            <a:ext cx="3171825" cy="2991212"/>
          </a:xfrm>
          <a:prstGeom prst="rect">
            <a:avLst/>
          </a:prstGeom>
          <a:gradFill flip="none" rotWithShape="1">
            <a:gsLst>
              <a:gs pos="0">
                <a:srgbClr val="ED1C23">
                  <a:lumMod val="93000"/>
                </a:srgbClr>
              </a:gs>
              <a:gs pos="92000">
                <a:srgbClr val="ED1C23">
                  <a:lumMod val="50000"/>
                  <a:alpha val="0"/>
                </a:srgbClr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061A143-A3F4-A3BE-4216-AE5AF2D2EB89}"/>
              </a:ext>
            </a:extLst>
          </p:cNvPr>
          <p:cNvSpPr/>
          <p:nvPr/>
        </p:nvSpPr>
        <p:spPr>
          <a:xfrm>
            <a:off x="1235075" y="1732952"/>
            <a:ext cx="3726224" cy="730306"/>
          </a:xfrm>
          <a:prstGeom prst="roundRect">
            <a:avLst>
              <a:gd name="adj" fmla="val 3965"/>
            </a:avLst>
          </a:prstGeom>
          <a:solidFill>
            <a:srgbClr val="FED4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CBDF6FF-B77D-FA10-B4D3-C4A9DF4A929E}"/>
              </a:ext>
            </a:extLst>
          </p:cNvPr>
          <p:cNvSpPr txBox="1"/>
          <p:nvPr/>
        </p:nvSpPr>
        <p:spPr>
          <a:xfrm>
            <a:off x="1423223" y="3007670"/>
            <a:ext cx="278374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</a:rPr>
              <a:t>Four independent analytical passes run on the same evidence. Conflicts between them are shown to the workshop, never quietly averaged away.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F672E5B-0306-3BA3-9FC0-BF0C9DA94C90}"/>
              </a:ext>
            </a:extLst>
          </p:cNvPr>
          <p:cNvSpPr/>
          <p:nvPr/>
        </p:nvSpPr>
        <p:spPr>
          <a:xfrm>
            <a:off x="1455736" y="5034076"/>
            <a:ext cx="2730502" cy="370740"/>
          </a:xfrm>
          <a:prstGeom prst="roundRect">
            <a:avLst>
              <a:gd name="adj" fmla="val 50000"/>
            </a:avLst>
          </a:prstGeom>
          <a:solidFill>
            <a:srgbClr val="FED4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8CF0EAA-4C65-92AF-FB49-2B8D0552F075}"/>
              </a:ext>
            </a:extLst>
          </p:cNvPr>
          <p:cNvSpPr/>
          <p:nvPr/>
        </p:nvSpPr>
        <p:spPr>
          <a:xfrm>
            <a:off x="4732336" y="5034076"/>
            <a:ext cx="2730502" cy="370740"/>
          </a:xfrm>
          <a:prstGeom prst="roundRect">
            <a:avLst>
              <a:gd name="adj" fmla="val 50000"/>
            </a:avLst>
          </a:prstGeom>
          <a:solidFill>
            <a:srgbClr val="ED1C2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0" i="0" u="none" strike="noStrike" kern="0" cap="none" spc="0" normalizeH="0" baseline="0" noProof="0">
              <a:ln>
                <a:noFill/>
              </a:ln>
              <a:solidFill>
                <a:srgbClr val="ED1C2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2F2D7FF-A24D-70BB-FFF7-9567ECE5E5D1}"/>
              </a:ext>
            </a:extLst>
          </p:cNvPr>
          <p:cNvSpPr/>
          <p:nvPr/>
        </p:nvSpPr>
        <p:spPr>
          <a:xfrm>
            <a:off x="8008936" y="5034076"/>
            <a:ext cx="2730502" cy="370740"/>
          </a:xfrm>
          <a:prstGeom prst="roundRect">
            <a:avLst>
              <a:gd name="adj" fmla="val 50000"/>
            </a:avLst>
          </a:prstGeom>
          <a:solidFill>
            <a:srgbClr val="FED4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B5ABC05-941B-40DD-6E98-A893AD00B13A}"/>
              </a:ext>
            </a:extLst>
          </p:cNvPr>
          <p:cNvSpPr txBox="1"/>
          <p:nvPr/>
        </p:nvSpPr>
        <p:spPr>
          <a:xfrm>
            <a:off x="1252415" y="1896819"/>
            <a:ext cx="3479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</a:rPr>
              <a:t>It has no approval authority</a:t>
            </a:r>
            <a:endParaRPr kumimoji="0" lang="en-IN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96A6DF8-D910-DC8E-EDEF-1A810EAF5085}"/>
              </a:ext>
            </a:extLst>
          </p:cNvPr>
          <p:cNvSpPr txBox="1"/>
          <p:nvPr/>
        </p:nvSpPr>
        <p:spPr>
          <a:xfrm>
            <a:off x="1781173" y="5088641"/>
            <a:ext cx="2067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</a:rPr>
              <a:t>Disagreement is preserved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E6C0D8-D1B4-013C-8C1D-23C6CA0A0136}"/>
              </a:ext>
            </a:extLst>
          </p:cNvPr>
          <p:cNvSpPr txBox="1"/>
          <p:nvPr/>
        </p:nvSpPr>
        <p:spPr>
          <a:xfrm>
            <a:off x="5230683" y="5071127"/>
            <a:ext cx="17306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</a:rPr>
              <a:t>Every finding is tiered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FAD7130-764F-D0AD-6C86-38F9A4ED9146}"/>
              </a:ext>
            </a:extLst>
          </p:cNvPr>
          <p:cNvSpPr txBox="1"/>
          <p:nvPr/>
        </p:nvSpPr>
        <p:spPr>
          <a:xfrm>
            <a:off x="8093798" y="5070535"/>
            <a:ext cx="26424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rgbClr val="000000">
                    <a:lumMod val="85000"/>
                    <a:lumOff val="15000"/>
                  </a:srgbClr>
                </a:solidFill>
              </a:rPr>
              <a:t>S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</a:rPr>
              <a:t>creening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</a:rPr>
              <a:t> agent, not a decision-maker</a:t>
            </a: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2DDC3BD-24BE-F3F3-160F-02F800340E89}"/>
              </a:ext>
            </a:extLst>
          </p:cNvPr>
          <p:cNvSpPr/>
          <p:nvPr/>
        </p:nvSpPr>
        <p:spPr>
          <a:xfrm>
            <a:off x="609599" y="838200"/>
            <a:ext cx="10972800" cy="28575"/>
          </a:xfrm>
          <a:prstGeom prst="rect">
            <a:avLst/>
          </a:prstGeom>
          <a:solidFill>
            <a:srgbClr val="FBD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7EF903E-169E-30F1-CB3F-B111F7AC7102}"/>
              </a:ext>
            </a:extLst>
          </p:cNvPr>
          <p:cNvSpPr txBox="1"/>
          <p:nvPr/>
        </p:nvSpPr>
        <p:spPr>
          <a:xfrm>
            <a:off x="4679091" y="3007670"/>
            <a:ext cx="27837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Evidenced, Inferred, or Gap — shown explicitly, never blended into one confident narrative tone.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19D7CC-83FE-27F9-C159-E52E16A22B12}"/>
              </a:ext>
            </a:extLst>
          </p:cNvPr>
          <p:cNvSpPr txBox="1"/>
          <p:nvPr/>
        </p:nvSpPr>
        <p:spPr>
          <a:xfrm>
            <a:off x="7952517" y="3007670"/>
            <a:ext cx="278374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From user inputs and connected safety documents, generates an evidence-based hazard-identification draft. It does not perform HAZOP, LOPA, safeguard/ESD assessment, or approve operations.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ECEFB0-786D-7577-7BBD-347FDA2EC778}"/>
              </a:ext>
            </a:extLst>
          </p:cNvPr>
          <p:cNvSpPr/>
          <p:nvPr/>
        </p:nvSpPr>
        <p:spPr>
          <a:xfrm>
            <a:off x="1235075" y="1732952"/>
            <a:ext cx="45719" cy="730306"/>
          </a:xfrm>
          <a:prstGeom prst="roundRect">
            <a:avLst>
              <a:gd name="adj" fmla="val 3965"/>
            </a:avLst>
          </a:prstGeom>
          <a:solidFill>
            <a:srgbClr val="FF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057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DC17C5-5D7D-D294-741D-2D101C9B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7BDDFEC-A142-51D3-6914-46C858FE9F8D}"/>
              </a:ext>
            </a:extLst>
          </p:cNvPr>
          <p:cNvSpPr txBox="1"/>
          <p:nvPr/>
        </p:nvSpPr>
        <p:spPr>
          <a:xfrm>
            <a:off x="609600" y="591494"/>
            <a:ext cx="66789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400" b="1" i="0" u="none">
                <a:solidFill>
                  <a:srgbClr val="1A1A1A"/>
                </a:solidFill>
                <a:latin typeface="Inter"/>
              </a:defRPr>
            </a:lvl1pPr>
          </a:lstStyle>
          <a:p>
            <a:r>
              <a:rPr lang="en-US" dirty="0"/>
              <a:t>Moment of truth</a:t>
            </a:r>
            <a:endParaRPr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3E00F83-4187-4D3A-14FE-B3152F851898}"/>
              </a:ext>
            </a:extLst>
          </p:cNvPr>
          <p:cNvGrpSpPr/>
          <p:nvPr/>
        </p:nvGrpSpPr>
        <p:grpSpPr>
          <a:xfrm>
            <a:off x="8993735" y="5852609"/>
            <a:ext cx="2799159" cy="828675"/>
            <a:chOff x="9201150" y="5813524"/>
            <a:chExt cx="2799159" cy="82867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BEAF660E-6B26-4DF8-1829-B6ADD8F02E2D}"/>
                </a:ext>
              </a:extLst>
            </p:cNvPr>
            <p:cNvSpPr/>
            <p:nvPr/>
          </p:nvSpPr>
          <p:spPr>
            <a:xfrm>
              <a:off x="9201150" y="5813524"/>
              <a:ext cx="2609850" cy="828675"/>
            </a:xfrm>
            <a:prstGeom prst="roundRect">
              <a:avLst>
                <a:gd name="adj" fmla="val 459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2" name="Picture 11" descr="image.png">
              <a:extLst>
                <a:ext uri="{FF2B5EF4-FFF2-40B4-BE49-F238E27FC236}">
                  <a16:creationId xmlns:a16="http://schemas.microsoft.com/office/drawing/2014/main" id="{03BDD887-310C-D326-BCB6-F79703F66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05950" y="6075461"/>
              <a:ext cx="304800" cy="3048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59BBC6-AD17-49F3-80F3-EDCB8EFAAFC6}"/>
                </a:ext>
              </a:extLst>
            </p:cNvPr>
            <p:cNvSpPr txBox="1"/>
            <p:nvPr/>
          </p:nvSpPr>
          <p:spPr>
            <a:xfrm>
              <a:off x="9925050" y="6042124"/>
              <a:ext cx="2075259" cy="3714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400" b="1" i="0" u="none">
                  <a:solidFill>
                    <a:srgbClr val="DD1D21"/>
                  </a:solidFill>
                  <a:latin typeface="Inter"/>
                </a:rPr>
                <a:t>safety</a:t>
              </a:r>
              <a:r>
                <a:rPr sz="2400" b="1" i="0" u="none">
                  <a:latin typeface="Inter"/>
                </a:rPr>
                <a:t>Lens</a:t>
              </a:r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7CCF77B9-8226-EA9E-868D-6D1A3500CF37}"/>
              </a:ext>
            </a:extLst>
          </p:cNvPr>
          <p:cNvSpPr/>
          <p:nvPr/>
        </p:nvSpPr>
        <p:spPr>
          <a:xfrm>
            <a:off x="609599" y="838200"/>
            <a:ext cx="10972800" cy="28575"/>
          </a:xfrm>
          <a:prstGeom prst="rect">
            <a:avLst/>
          </a:prstGeom>
          <a:solidFill>
            <a:srgbClr val="FBD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48CE252-B440-41BA-A87C-BA94A61D8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818" y="1191752"/>
            <a:ext cx="2806268" cy="14149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5F48FFB-8A0C-5410-F803-9490647B6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35496">
            <a:off x="740739" y="1337707"/>
            <a:ext cx="3614678" cy="10798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E0A7B9C-16F9-A4A8-5977-987C68CF6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41929">
            <a:off x="862012" y="3081894"/>
            <a:ext cx="3600000" cy="168530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062B86D-4A3A-ACCD-8366-83E88982A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3068" y="2997195"/>
            <a:ext cx="3600000" cy="14149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4E93D2F-C636-DD35-4229-C249E90EB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838" y="5320735"/>
            <a:ext cx="3600000" cy="106374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F3B1944-C83D-009F-B6D0-0619FF1FFD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9838" y="5101322"/>
            <a:ext cx="3600000" cy="10766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1F99F56-CE93-DCB2-FD7B-AC762C1CDE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2853" y="1230225"/>
            <a:ext cx="2858110" cy="173089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B38200B-E4EA-0571-5407-27F4F0972E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3586" y="3502739"/>
            <a:ext cx="3600000" cy="104717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E86F6A2-6A5B-E17E-EB56-E7832E7612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9086" y="4056409"/>
            <a:ext cx="3600000" cy="11529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4DC21B6-A5CA-B317-44CB-1A91BB1007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494469">
            <a:off x="8192894" y="4798666"/>
            <a:ext cx="3600000" cy="88090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29717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D8785-BADE-28A1-8D45-A0894C61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52FBDF2-00AC-BF18-1EE5-6DAF7F95BAE8}"/>
              </a:ext>
            </a:extLst>
          </p:cNvPr>
          <p:cNvSpPr txBox="1"/>
          <p:nvPr/>
        </p:nvSpPr>
        <p:spPr>
          <a:xfrm>
            <a:off x="609600" y="591494"/>
            <a:ext cx="66789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400" b="1" i="0" u="none">
                <a:solidFill>
                  <a:srgbClr val="1A1A1A"/>
                </a:solidFill>
                <a:latin typeface="Inter"/>
              </a:defRPr>
            </a:lvl1pPr>
          </a:lstStyle>
          <a:p>
            <a:r>
              <a:rPr lang="en-IN" dirty="0"/>
              <a:t>Value Creation </a:t>
            </a:r>
            <a:endParaRPr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38D7626-C8BD-CBC7-BEDE-6C43D94A426C}"/>
              </a:ext>
            </a:extLst>
          </p:cNvPr>
          <p:cNvGrpSpPr/>
          <p:nvPr/>
        </p:nvGrpSpPr>
        <p:grpSpPr>
          <a:xfrm>
            <a:off x="9011841" y="5852609"/>
            <a:ext cx="2799159" cy="828675"/>
            <a:chOff x="9201150" y="5813524"/>
            <a:chExt cx="2799159" cy="82867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2827D06A-F0F5-408A-6767-89290294E175}"/>
                </a:ext>
              </a:extLst>
            </p:cNvPr>
            <p:cNvSpPr/>
            <p:nvPr/>
          </p:nvSpPr>
          <p:spPr>
            <a:xfrm>
              <a:off x="9201150" y="5813524"/>
              <a:ext cx="2609850" cy="828675"/>
            </a:xfrm>
            <a:prstGeom prst="roundRect">
              <a:avLst>
                <a:gd name="adj" fmla="val 459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2" name="Picture 11" descr="image.png">
              <a:extLst>
                <a:ext uri="{FF2B5EF4-FFF2-40B4-BE49-F238E27FC236}">
                  <a16:creationId xmlns:a16="http://schemas.microsoft.com/office/drawing/2014/main" id="{23EEE617-3086-E25D-3B30-D66E9CB8B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05950" y="6075461"/>
              <a:ext cx="304800" cy="3048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AC48653-39E3-78EA-F20F-CADB2D5338D1}"/>
                </a:ext>
              </a:extLst>
            </p:cNvPr>
            <p:cNvSpPr txBox="1"/>
            <p:nvPr/>
          </p:nvSpPr>
          <p:spPr>
            <a:xfrm>
              <a:off x="9925050" y="6042124"/>
              <a:ext cx="2075259" cy="3714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400" b="1" i="0" u="none">
                  <a:solidFill>
                    <a:srgbClr val="DD1D21"/>
                  </a:solidFill>
                  <a:latin typeface="Inter"/>
                </a:rPr>
                <a:t>safety</a:t>
              </a:r>
              <a:r>
                <a:rPr sz="2400" b="1" i="0" u="none">
                  <a:latin typeface="Inter"/>
                </a:rPr>
                <a:t>Lens</a:t>
              </a:r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F86FAE21-58D3-C4F6-30D4-C5E149067B8A}"/>
              </a:ext>
            </a:extLst>
          </p:cNvPr>
          <p:cNvSpPr/>
          <p:nvPr/>
        </p:nvSpPr>
        <p:spPr>
          <a:xfrm>
            <a:off x="609599" y="838200"/>
            <a:ext cx="10972800" cy="28575"/>
          </a:xfrm>
          <a:prstGeom prst="rect">
            <a:avLst/>
          </a:prstGeom>
          <a:solidFill>
            <a:srgbClr val="FBD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E3D97F-7F2D-6B28-1563-4F1C6AE0F1B0}"/>
              </a:ext>
            </a:extLst>
          </p:cNvPr>
          <p:cNvSpPr txBox="1"/>
          <p:nvPr/>
        </p:nvSpPr>
        <p:spPr>
          <a:xfrm>
            <a:off x="5821378" y="954822"/>
            <a:ext cx="57610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3600" b="1" dirty="0">
                <a:solidFill>
                  <a:srgbClr val="ED1C23"/>
                </a:solidFill>
                <a:latin typeface="Red Hat Display"/>
              </a:rPr>
              <a:t>The operating reality this tool is built for — not a hypothetical efficiency case.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0B78B2-B8D0-9F14-7D02-57FB822C799E}"/>
              </a:ext>
            </a:extLst>
          </p:cNvPr>
          <p:cNvSpPr/>
          <p:nvPr/>
        </p:nvSpPr>
        <p:spPr>
          <a:xfrm>
            <a:off x="606925" y="1268413"/>
            <a:ext cx="4513921" cy="3590229"/>
          </a:xfrm>
          <a:prstGeom prst="rect">
            <a:avLst/>
          </a:prstGeom>
          <a:solidFill>
            <a:srgbClr val="ED1C2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BBFB3F-904A-9D7C-B284-9AC68FF19CA1}"/>
              </a:ext>
            </a:extLst>
          </p:cNvPr>
          <p:cNvSpPr txBox="1"/>
          <p:nvPr/>
        </p:nvSpPr>
        <p:spPr>
          <a:xfrm>
            <a:off x="606924" y="5005861"/>
            <a:ext cx="4650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It compresses the pre-read, so </a:t>
            </a:r>
            <a:r>
              <a:rPr lang="en-US" sz="1600" kern="0" dirty="0"/>
              <a:t>that argument now starts from a cited synthesis, not memory 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E4A1B32-EDA0-AF58-1345-99EDC1416C4C}"/>
              </a:ext>
            </a:extLst>
          </p:cNvPr>
          <p:cNvGrpSpPr/>
          <p:nvPr/>
        </p:nvGrpSpPr>
        <p:grpSpPr>
          <a:xfrm>
            <a:off x="606924" y="1071282"/>
            <a:ext cx="4650120" cy="3787359"/>
            <a:chOff x="7541879" y="2095499"/>
            <a:chExt cx="4650120" cy="378735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BCB86E7-B3D7-5081-0FDB-8F5B6CE7D4F9}"/>
                </a:ext>
              </a:extLst>
            </p:cNvPr>
            <p:cNvSpPr/>
            <p:nvPr/>
          </p:nvSpPr>
          <p:spPr>
            <a:xfrm>
              <a:off x="7541879" y="2095500"/>
              <a:ext cx="4650120" cy="3787358"/>
            </a:xfrm>
            <a:prstGeom prst="rect">
              <a:avLst/>
            </a:prstGeom>
            <a:solidFill>
              <a:srgbClr val="FBDD0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91A7A7D-820C-DD70-0EF8-9222F4BBA6E2}"/>
                </a:ext>
              </a:extLst>
            </p:cNvPr>
            <p:cNvSpPr/>
            <p:nvPr/>
          </p:nvSpPr>
          <p:spPr>
            <a:xfrm>
              <a:off x="7544555" y="2095499"/>
              <a:ext cx="4647444" cy="89952"/>
            </a:xfrm>
            <a:prstGeom prst="rect">
              <a:avLst/>
            </a:prstGeom>
            <a:solidFill>
              <a:srgbClr val="DD1D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5" name="Picture 44" descr="image.png">
              <a:extLst>
                <a:ext uri="{FF2B5EF4-FFF2-40B4-BE49-F238E27FC236}">
                  <a16:creationId xmlns:a16="http://schemas.microsoft.com/office/drawing/2014/main" id="{95487F1C-88A4-C2A9-0C0A-89BE755E1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0249" y="2496442"/>
              <a:ext cx="3327350" cy="3810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20D6E6A-00BF-242A-8F4F-2D4CF264CED5}"/>
                </a:ext>
              </a:extLst>
            </p:cNvPr>
            <p:cNvSpPr txBox="1"/>
            <p:nvPr/>
          </p:nvSpPr>
          <p:spPr>
            <a:xfrm>
              <a:off x="7950249" y="3106042"/>
              <a:ext cx="4241750" cy="27429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sz="1800" b="1" i="0" u="none">
                  <a:solidFill>
                    <a:srgbClr val="1A1A1A"/>
                  </a:solidFill>
                  <a:latin typeface="Inter"/>
                </a:rPr>
                <a:t>The Real Shift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133E1AC-43E5-089B-5BFA-E9851C519752}"/>
                </a:ext>
              </a:extLst>
            </p:cNvPr>
            <p:cNvSpPr txBox="1"/>
            <p:nvPr/>
          </p:nvSpPr>
          <p:spPr>
            <a:xfrm>
              <a:off x="7950249" y="3532733"/>
              <a:ext cx="4105552" cy="17726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sz="1350" b="0" i="0" u="none" dirty="0">
                  <a:solidFill>
                    <a:srgbClr val="1A1A1A"/>
                  </a:solidFill>
                  <a:latin typeface="Inter"/>
                </a:rPr>
                <a:t>Don't let this get pattern-matched to “AI-powered HAZOP” and judged against a 40-year-old methodology it never tried to be: </a:t>
              </a:r>
              <a:r>
                <a:rPr dirty="0"/>
                <a:t>
</a:t>
              </a:r>
              <a:r>
                <a:rPr sz="1350" b="1" i="0" u="none" dirty="0">
                  <a:latin typeface="Inter"/>
                </a:rPr>
                <a:t>It replaces the week spent reading old SOPs before the workshop starts — not the workshop, and not the judgment call.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FA2F643-89EA-C848-CD32-CBEEBBC28B3F}"/>
              </a:ext>
            </a:extLst>
          </p:cNvPr>
          <p:cNvGrpSpPr/>
          <p:nvPr/>
        </p:nvGrpSpPr>
        <p:grpSpPr>
          <a:xfrm>
            <a:off x="6255946" y="3658311"/>
            <a:ext cx="3600000" cy="457200"/>
            <a:chOff x="6096000" y="4669658"/>
            <a:chExt cx="3600000" cy="457200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1C29A3C-3293-8538-F635-C82A3341D1F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669658"/>
              <a:ext cx="3600000" cy="0"/>
            </a:xfrm>
            <a:prstGeom prst="line">
              <a:avLst/>
            </a:prstGeom>
            <a:noFill/>
            <a:ln w="6350" cap="rnd" cmpd="sng" algn="ctr">
              <a:solidFill>
                <a:srgbClr val="ED1C23"/>
              </a:solidFill>
              <a:prstDash val="solid"/>
              <a:miter lim="800000"/>
            </a:ln>
            <a:effectLst/>
          </p:spPr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EAABFBB-4229-4AF2-02E6-EB8477B8AC0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126858"/>
              <a:ext cx="3600000" cy="0"/>
            </a:xfrm>
            <a:prstGeom prst="line">
              <a:avLst/>
            </a:prstGeom>
            <a:noFill/>
            <a:ln w="6350" cap="rnd" cmpd="sng" algn="ctr">
              <a:solidFill>
                <a:srgbClr val="ED1C23"/>
              </a:solidFill>
              <a:prstDash val="solid"/>
              <a:miter lim="800000"/>
            </a:ln>
            <a:effectLst/>
          </p:spPr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B4C459D2-C666-D044-8228-A937692D6BA8}"/>
              </a:ext>
            </a:extLst>
          </p:cNvPr>
          <p:cNvSpPr txBox="1"/>
          <p:nvPr/>
        </p:nvSpPr>
        <p:spPr>
          <a:xfrm>
            <a:off x="6137705" y="3294348"/>
            <a:ext cx="3710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400" b="1" dirty="0">
                <a:latin typeface="Red Hat Display"/>
              </a:rPr>
              <a:t>Catches document drift before the field does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B4BE92-B890-43DB-3E70-107022999A60}"/>
              </a:ext>
            </a:extLst>
          </p:cNvPr>
          <p:cNvSpPr txBox="1"/>
          <p:nvPr/>
        </p:nvSpPr>
        <p:spPr>
          <a:xfrm>
            <a:off x="6137705" y="3760877"/>
            <a:ext cx="3710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IN" sz="1400" b="1" dirty="0">
                <a:latin typeface="Red Hat Display"/>
              </a:rPr>
              <a:t>Applies literature-grounded checks consistently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1F37904-670B-AF52-1B64-6A68774575A6}"/>
              </a:ext>
            </a:extLst>
          </p:cNvPr>
          <p:cNvSpPr txBox="1"/>
          <p:nvPr/>
        </p:nvSpPr>
        <p:spPr>
          <a:xfrm>
            <a:off x="6137705" y="4227406"/>
            <a:ext cx="3710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400" b="1" dirty="0">
                <a:latin typeface="Red Hat Display"/>
              </a:rPr>
              <a:t>Builds a compounding evidence base</a:t>
            </a: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8153802F-B1A9-A084-C4D6-BC33441EB3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1505" y="3349555"/>
            <a:ext cx="195102" cy="195102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A35BB316-E8A6-EE54-7F25-556BC36FD7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1505" y="3807465"/>
            <a:ext cx="195102" cy="195102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7CF2EF52-374E-EBAF-ABD2-5CA3F0AE1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1505" y="4265165"/>
            <a:ext cx="195102" cy="195102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D5B929E-D362-8F75-F409-4B401C3DCF41}"/>
              </a:ext>
            </a:extLst>
          </p:cNvPr>
          <p:cNvCxnSpPr>
            <a:cxnSpLocks/>
          </p:cNvCxnSpPr>
          <p:nvPr/>
        </p:nvCxnSpPr>
        <p:spPr>
          <a:xfrm>
            <a:off x="6255946" y="4584782"/>
            <a:ext cx="3600000" cy="0"/>
          </a:xfrm>
          <a:prstGeom prst="line">
            <a:avLst/>
          </a:prstGeom>
          <a:noFill/>
          <a:ln w="6350" cap="rnd" cmpd="sng" algn="ctr">
            <a:solidFill>
              <a:srgbClr val="ED1C23"/>
            </a:solidFill>
            <a:prstDash val="solid"/>
            <a:miter lim="800000"/>
          </a:ln>
          <a:effectLst/>
        </p:spPr>
      </p:cxnSp>
      <p:pic>
        <p:nvPicPr>
          <p:cNvPr id="91" name="Graphic 90">
            <a:extLst>
              <a:ext uri="{FF2B5EF4-FFF2-40B4-BE49-F238E27FC236}">
                <a16:creationId xmlns:a16="http://schemas.microsoft.com/office/drawing/2014/main" id="{C4F2DD9E-899D-CEF5-2F86-FBB580EEF3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1505" y="4749142"/>
            <a:ext cx="195102" cy="19510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3246ABE6-F105-DE9E-8CDD-CFCA182B4E42}"/>
              </a:ext>
            </a:extLst>
          </p:cNvPr>
          <p:cNvSpPr txBox="1"/>
          <p:nvPr/>
        </p:nvSpPr>
        <p:spPr>
          <a:xfrm>
            <a:off x="6137705" y="4693935"/>
            <a:ext cx="3710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400" b="1" dirty="0">
                <a:latin typeface="Red Hat Display"/>
              </a:rPr>
              <a:t>Narrow, defensible scope </a:t>
            </a:r>
          </a:p>
        </p:txBody>
      </p:sp>
    </p:spTree>
    <p:extLst>
      <p:ext uri="{BB962C8B-B14F-4D97-AF65-F5344CB8AC3E}">
        <p14:creationId xmlns:p14="http://schemas.microsoft.com/office/powerpoint/2010/main" val="183693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337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Red Hat Display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sankar sasmal</cp:lastModifiedBy>
  <cp:revision>5</cp:revision>
  <dcterms:created xsi:type="dcterms:W3CDTF">2013-01-27T09:14:16Z</dcterms:created>
  <dcterms:modified xsi:type="dcterms:W3CDTF">2026-09-27T16:48:53Z</dcterms:modified>
  <cp:category/>
</cp:coreProperties>
</file>