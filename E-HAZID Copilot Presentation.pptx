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20678" y="2571898"/>
            <a:ext cx="5150643" cy="754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940"/>
              </a:lnSpc>
            </a:pPr>
            <a:r>
              <a:rPr b="1" sz="5400" i="0" u="none">
                <a:solidFill>
                  <a:srgbClr val="333333"/>
                </a:solidFill>
                <a:latin typeface="Urbanist"/>
              </a:rPr>
              <a:t>E-HAZID </a:t>
            </a:r>
            <a:r>
              <a:rPr b="1" sz="5400" i="0" u="none">
                <a:solidFill>
                  <a:srgbClr val="DA291C"/>
                </a:solidFill>
                <a:latin typeface="Urbanist"/>
              </a:rPr>
              <a:t>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554759"/>
            <a:ext cx="7620000" cy="7313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b="0" sz="1800" i="0" u="none">
                <a:solidFill>
                  <a:srgbClr val="666666"/>
                </a:solidFill>
                <a:latin typeface="Urbanist Medium"/>
              </a:rPr>
              <a:t>Maximizing Value &amp; Efficiency through Human-AI Synergy in Process Safety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100262"/>
            <a:ext cx="3365450" cy="35909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3200" y="2100262"/>
            <a:ext cx="3365450" cy="35909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400" y="2100262"/>
            <a:ext cx="3365599" cy="35909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75" y="2490787"/>
            <a:ext cx="571500" cy="571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7275" y="3290887"/>
            <a:ext cx="277490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A291C"/>
                </a:solidFill>
                <a:latin typeface="Urbanist"/>
              </a:rPr>
              <a:t>STAGE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275" y="3529012"/>
            <a:ext cx="2913645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333333"/>
                </a:solidFill>
                <a:latin typeface="Urbanist"/>
              </a:rPr>
              <a:t>Intake &amp; Guardrails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7275" y="3967162"/>
            <a:ext cx="2774900" cy="1285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666666"/>
                </a:solidFill>
                <a:latin typeface="Urbanist Medium"/>
              </a:rPr>
              <a:t>Enforces a mandatory minimum viable data set. The agent blocks execution if critical Tier 1 documents or the operating envelope are missing.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8475" y="2490787"/>
            <a:ext cx="571500" cy="571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08475" y="3290887"/>
            <a:ext cx="2774900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A291C"/>
                </a:solidFill>
                <a:latin typeface="Urbanist"/>
              </a:rPr>
              <a:t>STAGE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8475" y="3529012"/>
            <a:ext cx="2913645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333333"/>
                </a:solidFill>
                <a:latin typeface="Urbanist"/>
              </a:rPr>
              <a:t>AI Synthesis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8475" y="3967162"/>
            <a:ext cx="2774900" cy="1285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666666"/>
                </a:solidFill>
                <a:latin typeface="Urbanist Medium"/>
              </a:rPr>
              <a:t>The AI runs a novel 4-pass adversarial analysis. It structures data, runs verifiable calculations, and flags gaps to assemble a draft report.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9675" y="2490787"/>
            <a:ext cx="571500" cy="571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59675" y="3290887"/>
            <a:ext cx="2775049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DA291C"/>
                </a:solidFill>
                <a:latin typeface="Urbanist"/>
              </a:rPr>
              <a:t>STAGE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9675" y="3529012"/>
            <a:ext cx="2913801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100" i="0" u="none">
                <a:solidFill>
                  <a:srgbClr val="333333"/>
                </a:solidFill>
                <a:latin typeface="Urbanist"/>
              </a:rPr>
              <a:t>Human Workshop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9675" y="3967162"/>
            <a:ext cx="2775049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666666"/>
                </a:solidFill>
                <a:latin typeface="Urbanist Medium"/>
              </a:rPr>
              <a:t>Human experts review the pre-compiled draft. Focus shifts entirely to resolving explicit decision forks and capturing tacit knowledge.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0625" y="2643187"/>
            <a:ext cx="304800" cy="2667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60875" y="2643187"/>
            <a:ext cx="266700" cy="2667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8738" y="2643187"/>
            <a:ext cx="333375" cy="2667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2000" y="571500"/>
            <a:ext cx="11201400" cy="552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DA291C"/>
                </a:solidFill>
                <a:latin typeface="Urbanist"/>
              </a:rPr>
              <a:t>The Two-Stage Procedure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895475"/>
            <a:ext cx="5048250" cy="4000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850" y="1933575"/>
            <a:ext cx="4972050" cy="3924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1351359"/>
            <a:ext cx="4667250" cy="10054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333333"/>
                </a:solidFill>
                <a:latin typeface="Urbanist"/>
              </a:rPr>
              <a:t>Adversarial Approach:</a:t>
            </a:r>
            <a:r>
              <a:rPr b="0" sz="1650" i="0" u="none">
                <a:solidFill>
                  <a:srgbClr val="666666"/>
                </a:solidFill>
                <a:latin typeface="Urbanist Medium"/>
              </a:rPr>
              <a:t> Evaluates documents natively, skeptically, operationally, and across disciplines to prevent blind spots.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623542"/>
            <a:ext cx="4667250" cy="10054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333333"/>
                </a:solidFill>
                <a:latin typeface="Urbanist"/>
              </a:rPr>
              <a:t>Verified Rigor:</a:t>
            </a:r>
            <a:r>
              <a:rPr b="0" sz="1650" i="0" u="none">
                <a:solidFill>
                  <a:srgbClr val="666666"/>
                </a:solidFill>
                <a:latin typeface="Urbanist Medium"/>
              </a:rPr>
              <a:t> Routes quantitative claims (e.g., thermal stability, gas generation) through external tools, eliminating AI hallucinations.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895725"/>
            <a:ext cx="4667250" cy="10054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333333"/>
                </a:solidFill>
                <a:latin typeface="Urbanist"/>
              </a:rPr>
              <a:t>Evidence Classification:</a:t>
            </a:r>
            <a:r>
              <a:rPr b="0" sz="1650" i="0" u="none">
                <a:solidFill>
                  <a:srgbClr val="666666"/>
                </a:solidFill>
                <a:latin typeface="Urbanist Medium"/>
              </a:rPr>
              <a:t> Automatically tags every finding as Evidenced, Inferred, or a Gap, mapping out exactly what needs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5167907"/>
            <a:ext cx="4667250" cy="10054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333333"/>
                </a:solidFill>
                <a:latin typeface="Urbanist"/>
              </a:rPr>
              <a:t>Massive Efficiency Gain:</a:t>
            </a:r>
            <a:r>
              <a:rPr b="0" sz="1650" i="0" u="none">
                <a:solidFill>
                  <a:srgbClr val="666666"/>
                </a:solidFill>
                <a:latin typeface="Urbanist Medium"/>
              </a:rPr>
              <a:t> Synthesizes disparate data into a highly structured draft, saving hours of manual pre-workshop preparation.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17909"/>
            <a:ext cx="11201400" cy="552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DA291C"/>
                </a:solidFill>
                <a:latin typeface="Urbanist"/>
              </a:rPr>
              <a:t>AI-Assisted Synthesis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370409"/>
            <a:ext cx="142875" cy="2476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2642592"/>
            <a:ext cx="142875" cy="2476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3914775"/>
            <a:ext cx="142875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186957"/>
            <a:ext cx="142875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95475"/>
            <a:ext cx="5048250" cy="4000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1933575"/>
            <a:ext cx="4972050" cy="3924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2750" y="1351359"/>
            <a:ext cx="4667250" cy="10054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333333"/>
                </a:solidFill>
                <a:latin typeface="Urbanist"/>
              </a:rPr>
              <a:t>Targeted Expert Focus:</a:t>
            </a:r>
            <a:r>
              <a:rPr b="0" sz="1650" i="0" u="none">
                <a:solidFill>
                  <a:srgbClr val="666666"/>
                </a:solidFill>
                <a:latin typeface="Urbanist Medium"/>
              </a:rPr>
              <a:t> Teams spend high-value time resolving explicit gaps and ambiguous findings, rather than starting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750" y="2623542"/>
            <a:ext cx="4667250" cy="10054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333333"/>
                </a:solidFill>
                <a:latin typeface="Urbanist"/>
              </a:rPr>
              <a:t>Tacit Knowledge Capture:</a:t>
            </a:r>
            <a:r>
              <a:rPr b="0" sz="1650" i="0" u="none">
                <a:solidFill>
                  <a:srgbClr val="666666"/>
                </a:solidFill>
                <a:latin typeface="Urbanist Medium"/>
              </a:rPr>
              <a:t> The workshop intentionally extracts unwritten operational history that document retrieval structurally cannot find.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750" y="3895725"/>
            <a:ext cx="4667250" cy="10054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333333"/>
                </a:solidFill>
                <a:latin typeface="Urbanist"/>
              </a:rPr>
              <a:t>Accountable Decision Forks:</a:t>
            </a:r>
            <a:r>
              <a:rPr b="0" sz="1650" i="0" u="none">
                <a:solidFill>
                  <a:srgbClr val="666666"/>
                </a:solidFill>
                <a:latin typeface="Urbanist Medium"/>
              </a:rPr>
              <a:t> The AI never resolves ambiguity; it presents clear forks for the accountable human engineering team to decide.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750" y="5167907"/>
            <a:ext cx="4667250" cy="10054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b="1" sz="1650" i="0" u="none">
                <a:solidFill>
                  <a:srgbClr val="333333"/>
                </a:solidFill>
                <a:latin typeface="Urbanist"/>
              </a:rPr>
              <a:t>Continuous Improvement:</a:t>
            </a:r>
            <a:r>
              <a:rPr b="0" sz="1650" i="0" u="none">
                <a:solidFill>
                  <a:srgbClr val="666666"/>
                </a:solidFill>
                <a:latin typeface="Urbanist Medium"/>
              </a:rPr>
              <a:t> Captured knowledge is fed back into the system, enriching the source material for future runs.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17909"/>
            <a:ext cx="11201400" cy="552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DA291C"/>
                </a:solidFill>
                <a:latin typeface="Urbanist"/>
              </a:rPr>
              <a:t>Empowering the Human Expert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1750" y="1370409"/>
            <a:ext cx="142875" cy="2476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1750" y="2642592"/>
            <a:ext cx="142875" cy="2476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1750" y="3914775"/>
            <a:ext cx="142875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1750" y="5186957"/>
            <a:ext cx="142875" cy="2476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373659"/>
            <a:ext cx="533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500"/>
              </a:lnSpc>
              <a:defRPr/>
            </a:pPr>
            <a:r>
              <a:rPr b="1" sz="4500" i="0" u="none">
                <a:solidFill>
                  <a:srgbClr val="FBCE07"/>
                </a:solidFill>
                <a:latin typeface="Urbanist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0" y="2373659"/>
            <a:ext cx="666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500"/>
              </a:lnSpc>
              <a:defRPr/>
            </a:pPr>
            <a:r>
              <a:rPr b="1" sz="4500" i="0" u="none">
                <a:solidFill>
                  <a:srgbClr val="FBCE07"/>
                </a:solidFill>
                <a:latin typeface="Urbanis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949005"/>
            <a:ext cx="63817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500"/>
              </a:lnSpc>
              <a:defRPr/>
            </a:pPr>
            <a:r>
              <a:rPr b="1" sz="4500" i="0" u="none">
                <a:solidFill>
                  <a:srgbClr val="FBCE07"/>
                </a:solidFill>
                <a:latin typeface="Urbanist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3949005"/>
            <a:ext cx="67627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500"/>
              </a:lnSpc>
              <a:defRPr/>
            </a:pPr>
            <a:r>
              <a:rPr b="1" sz="4500" i="0" u="none">
                <a:solidFill>
                  <a:srgbClr val="FBCE07"/>
                </a:solidFill>
                <a:latin typeface="Urbanist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5900" y="2373659"/>
            <a:ext cx="4640580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DA291C"/>
                </a:solidFill>
                <a:latin typeface="Urbanist"/>
              </a:rPr>
              <a:t>Accelerated Preparation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2745134"/>
            <a:ext cx="4419600" cy="82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666666"/>
                </a:solidFill>
                <a:latin typeface="Urbanist Medium"/>
              </a:rPr>
              <a:t>Synthesizes disparate documents (P&amp;IDs, SOPs) into a highly structured draft, saving engineering teams hours of manual prep time and eliminating "blank page" fatigue.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3750" y="2373659"/>
            <a:ext cx="4500562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DA291C"/>
                </a:solidFill>
                <a:latin typeface="Urbanist"/>
              </a:rPr>
              <a:t>Elimination of Blind Spots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43750" y="2745134"/>
            <a:ext cx="4286250" cy="82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666666"/>
                </a:solidFill>
                <a:latin typeface="Urbanist Medium"/>
              </a:rPr>
              <a:t>The adversarial 4-pass analysis cross-references disciplines, actively hunting for hazards hidden at the boundaries of mechanical and process engineering.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90675" y="3949005"/>
            <a:ext cx="4530566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DA291C"/>
                </a:solidFill>
                <a:latin typeface="Urbanist"/>
              </a:rPr>
              <a:t>Verified Rigor &amp;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0675" y="4320480"/>
            <a:ext cx="4314825" cy="109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666666"/>
                </a:solidFill>
                <a:latin typeface="Urbanist Medium"/>
              </a:rPr>
              <a:t>Quantitative claims are strictly routed through verified calculation tools rather than relying on language model memory, ensuring a trustworthy, hallucination-free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3275" y="3949005"/>
            <a:ext cx="4490561" cy="276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DA291C"/>
                </a:solidFill>
                <a:latin typeface="Urbanist"/>
              </a:rPr>
              <a:t>Compounding Corporate Asset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3275" y="4320480"/>
            <a:ext cx="4276725" cy="82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666666"/>
                </a:solidFill>
                <a:latin typeface="Urbanist Medium"/>
              </a:rPr>
              <a:t>Tacit knowledge and gap resolutions captured during the workshop are fed back into the system, continuously enriching the source material for future safety analyses.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71500"/>
            <a:ext cx="11201400" cy="552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DA291C"/>
                </a:solidFill>
                <a:latin typeface="Urbanist"/>
              </a:rPr>
              <a:t>Value Generated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