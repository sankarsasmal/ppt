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6" d="100"/>
          <a:sy n="146" d="100"/>
        </p:scale>
        <p:origin x="28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smal, Sankar PTIN-DRX/D/L/D" userId="a3df832e-963b-476a-b36c-b830cef0bb7b" providerId="ADAL" clId="{29B79650-4591-4D0E-84F9-FE6CA68FEE0F}"/>
    <pc:docChg chg="custSel modSld">
      <pc:chgData name="Sasmal, Sankar PTIN-DRX/D/L/D" userId="a3df832e-963b-476a-b36c-b830cef0bb7b" providerId="ADAL" clId="{29B79650-4591-4D0E-84F9-FE6CA68FEE0F}" dt="2026-09-17T05:43:48.670" v="1" actId="478"/>
      <pc:docMkLst>
        <pc:docMk/>
      </pc:docMkLst>
      <pc:sldChg chg="delSp modSp mod">
        <pc:chgData name="Sasmal, Sankar PTIN-DRX/D/L/D" userId="a3df832e-963b-476a-b36c-b830cef0bb7b" providerId="ADAL" clId="{29B79650-4591-4D0E-84F9-FE6CA68FEE0F}" dt="2026-09-17T05:43:48.670" v="1" actId="478"/>
        <pc:sldMkLst>
          <pc:docMk/>
          <pc:sldMk cId="0" sldId="260"/>
        </pc:sldMkLst>
        <pc:picChg chg="del mod">
          <ac:chgData name="Sasmal, Sankar PTIN-DRX/D/L/D" userId="a3df832e-963b-476a-b36c-b830cef0bb7b" providerId="ADAL" clId="{29B79650-4591-4D0E-84F9-FE6CA68FEE0F}" dt="2026-09-17T05:43:48.670" v="1" actId="478"/>
          <ac:picMkLst>
            <pc:docMk/>
            <pc:sldMk cId="0" sldId="260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0678" y="2571898"/>
            <a:ext cx="5150643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 dirty="0">
                <a:solidFill>
                  <a:srgbClr val="333333"/>
                </a:solidFill>
                <a:latin typeface="Urbanist"/>
              </a:rPr>
              <a:t>E-HAZID </a:t>
            </a:r>
            <a:r>
              <a:rPr sz="5400" b="1" i="0" u="none" dirty="0">
                <a:solidFill>
                  <a:srgbClr val="DA291C"/>
                </a:solidFill>
                <a:latin typeface="Urbanist"/>
              </a:rPr>
              <a:t>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554759"/>
            <a:ext cx="7620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>
                <a:solidFill>
                  <a:srgbClr val="666666"/>
                </a:solidFill>
                <a:latin typeface="Urbanist Medium"/>
              </a:rPr>
              <a:t>Maximizing Value &amp; Efficiency through Human-AI Synergy in Process Safety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100262"/>
            <a:ext cx="3365450" cy="3590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00" y="2100262"/>
            <a:ext cx="3365450" cy="3590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100262"/>
            <a:ext cx="3365599" cy="3590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490787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7275" y="3290887"/>
            <a:ext cx="2774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A291C"/>
                </a:solidFill>
                <a:latin typeface="Urbanist"/>
              </a:rPr>
              <a:t>STAGE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3529012"/>
            <a:ext cx="291364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33333"/>
                </a:solidFill>
                <a:latin typeface="Urbanist"/>
              </a:rPr>
              <a:t>Intake &amp;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3967162"/>
            <a:ext cx="27749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666666"/>
                </a:solidFill>
                <a:latin typeface="Urbanist Medium"/>
              </a:rPr>
              <a:t>Enforces a mandatory minimum viable data set. The agent blocks execution if critical Tier 1 documents or the operating envelope are missing.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8475" y="2490787"/>
            <a:ext cx="571500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08475" y="3290887"/>
            <a:ext cx="2774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A291C"/>
                </a:solidFill>
                <a:latin typeface="Urbanist"/>
              </a:rP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8475" y="3529012"/>
            <a:ext cx="291364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33333"/>
                </a:solidFill>
                <a:latin typeface="Urbanist"/>
              </a:rPr>
              <a:t>AI Synthesis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8475" y="3967162"/>
            <a:ext cx="27749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666666"/>
                </a:solidFill>
                <a:latin typeface="Urbanist Medium"/>
              </a:rPr>
              <a:t>The AI runs a novel 4-pass adversarial analysis. It structures data, runs verifiable calculations, and flags gaps to assemble a draft report.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9675" y="2490787"/>
            <a:ext cx="5715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59675" y="3290887"/>
            <a:ext cx="277504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A291C"/>
                </a:solidFill>
                <a:latin typeface="Urbanist"/>
              </a:rPr>
              <a:t>STAGE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9675" y="3529012"/>
            <a:ext cx="291380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33333"/>
                </a:solidFill>
                <a:latin typeface="Urbanist"/>
              </a:rPr>
              <a:t>Human Workshop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9675" y="3967162"/>
            <a:ext cx="277504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666666"/>
                </a:solidFill>
                <a:latin typeface="Urbanist Medium"/>
              </a:rPr>
              <a:t>Human experts review the pre-compiled draft. Focus shifts entirely to resolving explicit decision forks and capturing tacit knowledge.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0625" y="2643187"/>
            <a:ext cx="3048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0875" y="2643187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8738" y="2643187"/>
            <a:ext cx="333375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DA291C"/>
                </a:solidFill>
                <a:latin typeface="Urbanist"/>
              </a:rPr>
              <a:t>The Two-Stage Procedure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95475"/>
            <a:ext cx="5048250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1933575"/>
            <a:ext cx="4972050" cy="3924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351359"/>
            <a:ext cx="46672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33333"/>
                </a:solidFill>
                <a:latin typeface="Urbanist"/>
              </a:rPr>
              <a:t>Adversarial Approach:</a:t>
            </a:r>
            <a:r>
              <a:rPr sz="1650" b="0" i="0" u="none">
                <a:solidFill>
                  <a:srgbClr val="666666"/>
                </a:solidFill>
                <a:latin typeface="Urbanist Medium"/>
              </a:rPr>
              <a:t> Evaluates documents natively, skeptically, operationally, and across disciplines to prevent blind spots.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23542"/>
            <a:ext cx="46672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33333"/>
                </a:solidFill>
                <a:latin typeface="Urbanist"/>
              </a:rPr>
              <a:t>Verified Rigor:</a:t>
            </a:r>
            <a:r>
              <a:rPr sz="1650" b="0" i="0" u="none">
                <a:solidFill>
                  <a:srgbClr val="666666"/>
                </a:solidFill>
                <a:latin typeface="Urbanist Medium"/>
              </a:rPr>
              <a:t> Routes quantitative claims (e.g., thermal stability, gas generation) through external tools, eliminating AI hallucinations.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895725"/>
            <a:ext cx="46672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33333"/>
                </a:solidFill>
                <a:latin typeface="Urbanist"/>
              </a:rPr>
              <a:t>Evidence Classification:</a:t>
            </a:r>
            <a:r>
              <a:rPr sz="1650" b="0" i="0" u="none">
                <a:solidFill>
                  <a:srgbClr val="666666"/>
                </a:solidFill>
                <a:latin typeface="Urbanist Medium"/>
              </a:rPr>
              <a:t> Automatically tags every finding as Evidenced, Inferred, or a Gap, mapping out exactly what needs attention.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167907"/>
            <a:ext cx="46672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33333"/>
                </a:solidFill>
                <a:latin typeface="Urbanist"/>
              </a:rPr>
              <a:t>Massive Efficiency Gain:</a:t>
            </a:r>
            <a:r>
              <a:rPr sz="1650" b="0" i="0" u="none">
                <a:solidFill>
                  <a:srgbClr val="666666"/>
                </a:solidFill>
                <a:latin typeface="Urbanist Medium"/>
              </a:rPr>
              <a:t> Synthesizes disparate data into a highly structured draft, saving hours of manual pre-workshop preparation.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17909"/>
            <a:ext cx="112014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DA291C"/>
                </a:solidFill>
                <a:latin typeface="Urbanist"/>
              </a:rPr>
              <a:t>AI-Assisted Synthesis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370409"/>
            <a:ext cx="14287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642592"/>
            <a:ext cx="14287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914775"/>
            <a:ext cx="142875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186957"/>
            <a:ext cx="14287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95475"/>
            <a:ext cx="5048250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933575"/>
            <a:ext cx="4972050" cy="3924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2750" y="1351359"/>
            <a:ext cx="46672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33333"/>
                </a:solidFill>
                <a:latin typeface="Urbanist"/>
              </a:rPr>
              <a:t>Targeted Expert Focus:</a:t>
            </a:r>
            <a:r>
              <a:rPr sz="1650" b="0" i="0" u="none">
                <a:solidFill>
                  <a:srgbClr val="666666"/>
                </a:solidFill>
                <a:latin typeface="Urbanist Medium"/>
              </a:rPr>
              <a:t> Teams spend high-value time resolving explicit gaps and ambiguous findings, rather than starting from scratch.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750" y="2623542"/>
            <a:ext cx="46672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33333"/>
                </a:solidFill>
                <a:latin typeface="Urbanist"/>
              </a:rPr>
              <a:t>Tacit Knowledge Capture:</a:t>
            </a:r>
            <a:r>
              <a:rPr sz="1650" b="0" i="0" u="none">
                <a:solidFill>
                  <a:srgbClr val="666666"/>
                </a:solidFill>
                <a:latin typeface="Urbanist Medium"/>
              </a:rPr>
              <a:t> The workshop intentionally extracts unwritten operational history that document retrieval structurally cannot find.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0" y="3895725"/>
            <a:ext cx="46672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33333"/>
                </a:solidFill>
                <a:latin typeface="Urbanist"/>
              </a:rPr>
              <a:t>Accountable Decision Forks:</a:t>
            </a:r>
            <a:r>
              <a:rPr sz="1650" b="0" i="0" u="none">
                <a:solidFill>
                  <a:srgbClr val="666666"/>
                </a:solidFill>
                <a:latin typeface="Urbanist Medium"/>
              </a:rPr>
              <a:t> The AI never resolves ambiguity; it presents clear forks for the accountable human engineering team to decide.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750" y="5167907"/>
            <a:ext cx="46672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33333"/>
                </a:solidFill>
                <a:latin typeface="Urbanist"/>
              </a:rPr>
              <a:t>Continuous Improvement:</a:t>
            </a:r>
            <a:r>
              <a:rPr sz="1650" b="0" i="0" u="none">
                <a:solidFill>
                  <a:srgbClr val="666666"/>
                </a:solidFill>
                <a:latin typeface="Urbanist Medium"/>
              </a:rPr>
              <a:t> Captured knowledge is fed back into the system, enriching the source material for future runs.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17909"/>
            <a:ext cx="112014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DA291C"/>
                </a:solidFill>
                <a:latin typeface="Urbanist"/>
              </a:rPr>
              <a:t>Empowering the Human Expert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1370409"/>
            <a:ext cx="14287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2642592"/>
            <a:ext cx="14287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3914775"/>
            <a:ext cx="142875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5186957"/>
            <a:ext cx="14287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2373659"/>
            <a:ext cx="533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00"/>
              </a:lnSpc>
              <a:defRPr/>
            </a:pPr>
            <a:r>
              <a:rPr sz="4500" b="1" i="0" u="none">
                <a:solidFill>
                  <a:srgbClr val="FBCE07"/>
                </a:solidFill>
                <a:latin typeface="Urbanis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373659"/>
            <a:ext cx="666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00"/>
              </a:lnSpc>
              <a:defRPr/>
            </a:pPr>
            <a:r>
              <a:rPr sz="4500" b="1" i="0" u="none">
                <a:solidFill>
                  <a:srgbClr val="FBCE07"/>
                </a:solidFill>
                <a:latin typeface="Urbanis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949005"/>
            <a:ext cx="6381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00"/>
              </a:lnSpc>
              <a:defRPr/>
            </a:pPr>
            <a:r>
              <a:rPr sz="4500" b="1" i="0" u="none">
                <a:solidFill>
                  <a:srgbClr val="FBCE07"/>
                </a:solidFill>
                <a:latin typeface="Urbanist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949005"/>
            <a:ext cx="6762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00"/>
              </a:lnSpc>
              <a:defRPr/>
            </a:pPr>
            <a:r>
              <a:rPr sz="4500" b="1" i="0" u="none">
                <a:solidFill>
                  <a:srgbClr val="FBCE07"/>
                </a:solidFill>
                <a:latin typeface="Urbanist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5900" y="2373659"/>
            <a:ext cx="464058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A291C"/>
                </a:solidFill>
                <a:latin typeface="Urbanist"/>
              </a:rPr>
              <a:t>Accelerated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" y="2745134"/>
            <a:ext cx="44196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666666"/>
                </a:solidFill>
                <a:latin typeface="Urbanist Medium"/>
              </a:rPr>
              <a:t>Synthesizes disparate documents (P&amp;IDs, SOPs) into a highly structured draft, saving engineering teams hours of manual prep time and eliminating "blank page" fatigue.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0" y="2373659"/>
            <a:ext cx="450056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A291C"/>
                </a:solidFill>
                <a:latin typeface="Urbanist"/>
              </a:rPr>
              <a:t>Elimination of Blind Spots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0" y="2745134"/>
            <a:ext cx="42862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666666"/>
                </a:solidFill>
                <a:latin typeface="Urbanist Medium"/>
              </a:rPr>
              <a:t>The adversarial 4-pass analysis cross-references disciplines, actively hunting for hazards hidden at the boundaries of mechanical and process engineering.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0675" y="3949005"/>
            <a:ext cx="4530566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A291C"/>
                </a:solidFill>
                <a:latin typeface="Urbanist"/>
              </a:rPr>
              <a:t>Verified Rigor &amp;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0675" y="4320480"/>
            <a:ext cx="431482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666666"/>
                </a:solidFill>
                <a:latin typeface="Urbanist Medium"/>
              </a:rPr>
              <a:t>Quantitative claims are strictly routed through verified calculation tools rather than relying on language model memory, ensuring a trustworthy, hallucination-free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3275" y="3949005"/>
            <a:ext cx="449056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A291C"/>
                </a:solidFill>
                <a:latin typeface="Urbanist"/>
              </a:rPr>
              <a:t>Compounding Corporate Asset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3275" y="4320480"/>
            <a:ext cx="42767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666666"/>
                </a:solidFill>
                <a:latin typeface="Urbanist Medium"/>
              </a:rPr>
              <a:t>Tacit knowledge and gap resolutions captured during the workshop are fed back into the system, continuously enriching the source material for future safety analyses.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DA291C"/>
                </a:solidFill>
                <a:latin typeface="Urbanist"/>
              </a:rPr>
              <a:t>Value Generated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396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Urbanist</vt:lpstr>
      <vt:lpstr>Urbanist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Sasmal, Sankar PTIN-DRX/D/L/D</cp:lastModifiedBy>
  <cp:revision>1</cp:revision>
  <dcterms:created xsi:type="dcterms:W3CDTF">2013-01-27T09:14:16Z</dcterms:created>
  <dcterms:modified xsi:type="dcterms:W3CDTF">2026-09-17T05:43:56Z</dcterms:modified>
  <cp:category/>
</cp:coreProperties>
</file>