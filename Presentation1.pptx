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E7C8-6C0C-3E68-19BA-261B66702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18636-EBC9-A6E6-A9E6-B191B97A1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33663-6638-7ECB-8D7B-952CFFF0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E51FC-3719-28C7-84AA-C129293A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A4EDB-673A-62B6-994F-CDD0AB5A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72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A0F80-49D6-083C-6F7B-6C7102D9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024D7-B512-8933-F835-904B471FC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C6B6-079F-E7D2-7C85-EAF22D11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FE202-D3E6-E3E2-B35D-C155C764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5A1D3-43EA-796B-432E-F80FE8535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51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D08E-4F22-63B3-9327-0779F220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A95CB-B2FB-D145-72DA-AE1B1D933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B348E-6ADC-86E9-C7AC-0D8DD343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569B-AAFF-634C-9145-A870C45BB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00C77-9BBE-3EF3-BF93-B69EED6D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86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93F1-C602-E384-4B62-069D5D58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EED10-B234-8C2A-20FE-BD8EC8CA8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0320F-1791-088F-C8C1-BD69A75F0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904D-5C2C-7883-C98E-AFF4A789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CBADA-9EED-5B87-2F78-6149347A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B96FD-3E26-0A0F-7DBE-9BB9F3E7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01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1C5B-C0DD-A293-1921-3918D19F6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8F73C-C678-F1F2-0013-3A0519854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58CEC-36B4-AE20-3AEF-71F9CC508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73B18-D09D-5AF9-DA3C-CCD8FFD4E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C9619-7815-A992-350D-D5607B1B56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38C47-6682-8C19-DD45-02418FE64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ACE61-7A0A-0737-7D42-9F255B2BB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7671B-90FC-7A74-156C-EFCA30B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97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0D2FD-3220-58C5-9ADA-C3E2667A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9AEF99-BC53-1893-D251-D9499CC9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0CEEBA-3AE7-04F2-45FE-78DD2FFA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8BC4F-F292-53FD-FAED-8BAE7862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501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BF887C-8CB9-D4FB-8A19-E076EB16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4DBD8-FC92-F243-8358-F57235D2D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276AE-6EA2-4A83-31F4-79F61E99E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05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E3A7-FCD5-AFD2-A458-E007ABED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1AF6B-27E0-EDB6-B380-0BD566038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D7353-DB00-A521-2612-000465843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FB52F-F42B-DD3F-7188-DBA2B95FA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FE63C-B3EF-537B-4876-218A2CCE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4F702-2667-DD4B-354F-DCE06CDA0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6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79F1-2431-076F-EDBD-7B2FBC73C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FEC8D-942A-440F-73B4-C99CABD8C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318AB-F0E8-B588-FFEA-93920A538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322DE-93BA-81DC-E7C5-CA0C9902D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BF768-8281-6889-ABDA-62B3E424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EEA5A-7B45-300E-BA83-556B0F37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35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A1C0-F959-E270-80B0-D026CFBB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1601B-5195-D792-B1BE-C4FF7068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C001-721C-2A5C-674C-19307A23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B18A-63DF-4307-73AA-ED939186C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0368E-FA9C-9D0C-FC34-BE4DC547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55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29460-C0E0-2556-B05C-2B417AC37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F19E8-CE1A-0DDE-EE44-4A3BDE0FC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71F85-D292-C783-DD5B-A6255FFD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46A57-5038-4969-38D5-226DAC30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2D18-D6CB-F0D7-5CA4-129CDB2D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02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CF4035-42FF-0CB2-8497-32F205AC6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DD2B7-8DB2-ADBE-65AB-78EA5ADCA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5D42A-8D29-5916-71CD-A28AD0550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5C3C9-3551-4712-A729-A74A78AC0EB5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EA34C-1FE1-A8E9-6612-64B39DFE0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7829B-BE97-003D-5BED-835AAE36C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2C1483-97F9-4BD8-A31D-CA164464CF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80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C93999-6B43-A95B-9A7B-0F080E9C7171}"/>
              </a:ext>
            </a:extLst>
          </p:cNvPr>
          <p:cNvSpPr txBox="1"/>
          <p:nvPr/>
        </p:nvSpPr>
        <p:spPr>
          <a:xfrm>
            <a:off x="678426" y="386960"/>
            <a:ext cx="609600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303030"/>
                </a:solidFill>
                <a:effectLst/>
              </a:rPr>
              <a:t>1.1 Problem Description: Derisking </a:t>
            </a:r>
            <a:r>
              <a:rPr lang="en-IN" sz="1400" i="1" dirty="0">
                <a:solidFill>
                  <a:srgbClr val="303030"/>
                </a:solidFill>
                <a:effectLst/>
                <a:latin typeface="KaTeX_Math"/>
              </a:rPr>
              <a:t>CO</a:t>
            </a:r>
            <a:r>
              <a:rPr lang="en-IN" sz="1400" dirty="0">
                <a:solidFill>
                  <a:srgbClr val="303030"/>
                </a:solidFill>
                <a:effectLst/>
                <a:latin typeface="KaTeX_Main"/>
              </a:rPr>
              <a:t>2​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 Catalytic Deoxygenation</a:t>
            </a:r>
            <a:endParaRPr lang="en-IN" sz="1400" dirty="0">
              <a:solidFill>
                <a:srgbClr val="303030"/>
              </a:solidFill>
              <a:effectLst/>
            </a:endParaRPr>
          </a:p>
          <a:p>
            <a:pPr>
              <a:buNone/>
            </a:pPr>
            <a:r>
              <a:rPr lang="en-IN" sz="1400" dirty="0">
                <a:solidFill>
                  <a:srgbClr val="303030"/>
                </a:solidFill>
                <a:effectLst/>
              </a:rPr>
              <a:t>While catalytic deoxygenation is a mature technology in industries like urea and chlor-alkali production, it has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not yet been deployed at industrial scale for post-combustion </a:t>
            </a:r>
            <a:r>
              <a:rPr lang="en-IN" sz="1400" i="1" dirty="0">
                <a:solidFill>
                  <a:srgbClr val="303030"/>
                </a:solidFill>
                <a:effectLst/>
                <a:latin typeface="KaTeX_Math"/>
              </a:rPr>
              <a:t>CO</a:t>
            </a:r>
            <a:r>
              <a:rPr lang="en-IN" sz="1400" dirty="0">
                <a:solidFill>
                  <a:srgbClr val="303030"/>
                </a:solidFill>
                <a:effectLst/>
                <a:latin typeface="KaTeX_Main"/>
              </a:rPr>
              <a:t>2​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 capture</a:t>
            </a:r>
            <a:r>
              <a:rPr lang="en-IN" sz="1400" dirty="0">
                <a:solidFill>
                  <a:srgbClr val="303030"/>
                </a:solidFill>
                <a:effectLst/>
              </a:rPr>
              <a:t> streams. The primary technical challenge lies in ensuring the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long-term stability</a:t>
            </a:r>
            <a:r>
              <a:rPr lang="en-IN" sz="1400" dirty="0">
                <a:solidFill>
                  <a:srgbClr val="303030"/>
                </a:solidFill>
                <a:effectLst/>
              </a:rPr>
              <a:t> of noble metal catalysts (Platinum or Palladium) when exposed to the unique conditions of captured </a:t>
            </a:r>
            <a:r>
              <a:rPr lang="en-IN" sz="1400" i="1" dirty="0">
                <a:solidFill>
                  <a:srgbClr val="303030"/>
                </a:solidFill>
                <a:effectLst/>
                <a:latin typeface="KaTeX_Math"/>
              </a:rPr>
              <a:t>CO</a:t>
            </a:r>
            <a:r>
              <a:rPr lang="en-IN" sz="1400" dirty="0">
                <a:solidFill>
                  <a:srgbClr val="303030"/>
                </a:solidFill>
                <a:effectLst/>
                <a:latin typeface="KaTeX_Main"/>
              </a:rPr>
              <a:t>2​</a:t>
            </a:r>
            <a:r>
              <a:rPr lang="en-IN" sz="1400" dirty="0">
                <a:solidFill>
                  <a:srgbClr val="303030"/>
                </a:solidFill>
                <a:effectLst/>
              </a:rPr>
              <a:t>, specifically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high water content</a:t>
            </a:r>
            <a:r>
              <a:rPr lang="en-IN" sz="1400" dirty="0">
                <a:solidFill>
                  <a:srgbClr val="303030"/>
                </a:solidFill>
                <a:effectLst/>
              </a:rPr>
              <a:t> (up to 40 mol%) and trace contaminants like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amines, </a:t>
            </a:r>
            <a:r>
              <a:rPr lang="en-IN" sz="1400" i="1" dirty="0" err="1">
                <a:solidFill>
                  <a:srgbClr val="303030"/>
                </a:solidFill>
                <a:effectLst/>
                <a:latin typeface="KaTeX_Math"/>
              </a:rPr>
              <a:t>SOx</a:t>
            </a:r>
            <a:r>
              <a:rPr lang="en-IN" sz="1400" dirty="0">
                <a:solidFill>
                  <a:srgbClr val="303030"/>
                </a:solidFill>
                <a:effectLst/>
                <a:latin typeface="KaTeX_Main"/>
              </a:rPr>
              <a:t>​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, and aldehydes</a:t>
            </a:r>
          </a:p>
          <a:p>
            <a:pPr>
              <a:buNone/>
            </a:pPr>
            <a:r>
              <a:rPr lang="en-IN" sz="1600" dirty="0"/>
              <a:t>A critical risk being addressed through experimental study is </a:t>
            </a:r>
            <a:r>
              <a:rPr lang="en-IN" sz="1600" b="1" dirty="0"/>
              <a:t>hydrothermal ageing</a:t>
            </a:r>
            <a:r>
              <a:rPr lang="en-IN" sz="1600" dirty="0"/>
              <a:t>. High water partial pressure and relative humidity can cause the catalyst's </a:t>
            </a:r>
            <a:r>
              <a:rPr lang="en-IN" sz="1600" b="1" dirty="0"/>
              <a:t>alumina support</a:t>
            </a:r>
            <a:r>
              <a:rPr lang="en-IN" sz="1600" dirty="0"/>
              <a:t> to reorganize into boehmite, potentially leading to the physical disintegration of the catalyst bed and loss of performance</a:t>
            </a:r>
            <a:endParaRPr lang="en-IN" sz="1400" dirty="0">
              <a:solidFill>
                <a:srgbClr val="303030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C0FD8-E25E-8002-43D1-3BB2C74EAD79}"/>
              </a:ext>
            </a:extLst>
          </p:cNvPr>
          <p:cNvSpPr txBox="1"/>
          <p:nvPr/>
        </p:nvSpPr>
        <p:spPr>
          <a:xfrm>
            <a:off x="678426" y="3758575"/>
            <a:ext cx="6096000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>
                <a:solidFill>
                  <a:srgbClr val="303030"/>
                </a:solidFill>
                <a:effectLst/>
              </a:defRPr>
            </a:lvl1pPr>
          </a:lstStyle>
          <a:p>
            <a:r>
              <a:rPr lang="en-IN" dirty="0"/>
              <a:t>1.2 Project Background</a:t>
            </a:r>
          </a:p>
          <a:p>
            <a:r>
              <a:rPr lang="en-IN" dirty="0"/>
              <a:t>As part of its strategy to reach net-zero emissions by 2050, Shell is implementing large-scale Carbon Capture and Storage (CCS) projects. When CO2​ is captured from combustion flue gases using amine-based technologies (like CANSOLV), the resulting stream contains trace levels of oxygen (O2​). This O2​ must be removed to meet stringent pipeline specifications (typically &lt;10 </a:t>
            </a:r>
            <a:r>
              <a:rPr lang="en-IN" dirty="0" err="1"/>
              <a:t>ppmv</a:t>
            </a:r>
            <a:r>
              <a:rPr lang="en-IN" dirty="0"/>
              <a:t>) to prevent corrosion and maintain infrastructure integrity. The first industrial application for this technology is the Moerdijk CCS project, which targets the capture of 800 </a:t>
            </a:r>
            <a:r>
              <a:rPr lang="en-IN" dirty="0" err="1"/>
              <a:t>ktonnes</a:t>
            </a:r>
            <a:r>
              <a:rPr lang="en-IN" dirty="0"/>
              <a:t> of CO2​ per annum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9C6FC-AF8E-1498-B24C-01BD95B6573A}"/>
              </a:ext>
            </a:extLst>
          </p:cNvPr>
          <p:cNvSpPr txBox="1"/>
          <p:nvPr/>
        </p:nvSpPr>
        <p:spPr>
          <a:xfrm>
            <a:off x="6941574" y="386960"/>
            <a:ext cx="4306529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303030"/>
                </a:solidFill>
                <a:effectLst/>
              </a:rPr>
              <a:t>1.3 Business Need and Opportunity</a:t>
            </a:r>
            <a:endParaRPr lang="en-IN" sz="1400" dirty="0">
              <a:solidFill>
                <a:srgbClr val="303030"/>
              </a:solidFill>
              <a:effectLst/>
            </a:endParaRPr>
          </a:p>
          <a:p>
            <a:pPr>
              <a:buNone/>
            </a:pPr>
            <a:r>
              <a:rPr lang="en-IN" sz="1400" dirty="0">
                <a:solidFill>
                  <a:srgbClr val="303030"/>
                </a:solidFill>
                <a:effectLst/>
              </a:rPr>
              <a:t>The successful derisking of this purification step is vital to: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Enable </a:t>
            </a:r>
            <a:r>
              <a:rPr lang="en-IN" sz="1400" b="0" i="1" dirty="0">
                <a:solidFill>
                  <a:srgbClr val="303030"/>
                </a:solidFill>
                <a:effectLst/>
                <a:latin typeface="KaTeX_Math"/>
              </a:rPr>
              <a:t>CO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KaTeX_Main"/>
              </a:rPr>
              <a:t>2​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 Transport and Storage: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Meeting pipeline specs is a non-negotiable requirement for the Moerdijk CCS project and future developments like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Quest, Acorn, and Charters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Cost Optimization: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Establishing a "derisked operating window" allows for the selection of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off-the-shelf catalysts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from multiple vendors (Clariant, BASF, Johnson Matthey), ensuring competitive pricing and interchangeability.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Future-Proofing: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While current targets are &lt;10 </a:t>
            </a:r>
            <a:r>
              <a:rPr lang="en-IN" sz="1400" b="0" i="0" dirty="0" err="1">
                <a:solidFill>
                  <a:srgbClr val="303030"/>
                </a:solidFill>
                <a:effectLst/>
                <a:latin typeface="Google Sans Text"/>
              </a:rPr>
              <a:t>ppmv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</a:t>
            </a:r>
            <a:r>
              <a:rPr lang="en-IN" sz="1400" b="0" i="1" dirty="0">
                <a:solidFill>
                  <a:srgbClr val="303030"/>
                </a:solidFill>
                <a:effectLst/>
                <a:latin typeface="KaTeX_Math"/>
              </a:rPr>
              <a:t>O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KaTeX_Main"/>
              </a:rPr>
              <a:t>2​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, the technology has the potential to reach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&lt;1 </a:t>
            </a:r>
            <a:r>
              <a:rPr lang="en-IN" sz="1400" b="1" i="0" dirty="0" err="1">
                <a:solidFill>
                  <a:srgbClr val="303030"/>
                </a:solidFill>
                <a:effectLst/>
                <a:latin typeface="Google Sans Text"/>
              </a:rPr>
              <a:t>ppmv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for future, more stringent project requirements</a:t>
            </a:r>
          </a:p>
        </p:txBody>
      </p:sp>
    </p:spTree>
    <p:extLst>
      <p:ext uri="{BB962C8B-B14F-4D97-AF65-F5344CB8AC3E}">
        <p14:creationId xmlns:p14="http://schemas.microsoft.com/office/powerpoint/2010/main" val="278067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F58A0E-0698-4D2E-A691-B55D8A08EE6E}"/>
              </a:ext>
            </a:extLst>
          </p:cNvPr>
          <p:cNvSpPr txBox="1"/>
          <p:nvPr/>
        </p:nvSpPr>
        <p:spPr>
          <a:xfrm>
            <a:off x="609600" y="478498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rgbClr val="303030"/>
                </a:solidFill>
                <a:effectLst/>
              </a:rPr>
              <a:t>2.The Need for a Collaborative Approach</a:t>
            </a:r>
            <a:endParaRPr lang="en-IN" sz="1400" dirty="0">
              <a:solidFill>
                <a:srgbClr val="303030"/>
              </a:solidFill>
              <a:effectLst/>
            </a:endParaRPr>
          </a:p>
          <a:p>
            <a:pPr>
              <a:buNone/>
            </a:pPr>
            <a:r>
              <a:rPr lang="en-IN" sz="1400" dirty="0">
                <a:solidFill>
                  <a:srgbClr val="303030"/>
                </a:solidFill>
                <a:effectLst/>
              </a:rPr>
              <a:t>The complexity of this challenge necessitates a partnership between the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Gas Processing department</a:t>
            </a:r>
            <a:r>
              <a:rPr lang="en-IN" sz="1400" dirty="0">
                <a:solidFill>
                  <a:srgbClr val="303030"/>
                </a:solidFill>
                <a:effectLst/>
              </a:rPr>
              <a:t> and the </a:t>
            </a:r>
            <a:r>
              <a:rPr lang="en-IN" sz="1400" b="1" dirty="0">
                <a:solidFill>
                  <a:srgbClr val="303030"/>
                </a:solidFill>
                <a:effectLst/>
              </a:rPr>
              <a:t>Catalyst Technology team</a:t>
            </a:r>
            <a:r>
              <a:rPr lang="en-IN" sz="1400" dirty="0">
                <a:solidFill>
                  <a:srgbClr val="303030"/>
                </a:solidFill>
                <a:effectLst/>
              </a:rPr>
              <a:t> because it requires a multi-disciplinary solution: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Process Design vs. Experimental Validation: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The Gas Processing team manages the overall system integration, compression stages, and vendor engagement. However, because vendors lack experience with these specific high-moisture and contaminant-rich environments,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internal experimental tests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(long-term stability and hydrothermal studies) are required to validate and expand the operating envelope.</a:t>
            </a:r>
          </a:p>
          <a:p>
            <a:pPr indent="0" algn="l">
              <a:buFont typeface="Arial" panose="020B0604020202020204" pitchFamily="34" charset="0"/>
              <a:buChar char="•"/>
            </a:pP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Specialised SME Input: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Addressing risks like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catalyst poisoning by </a:t>
            </a:r>
            <a:r>
              <a:rPr lang="en-IN" sz="1400" b="0" i="1" dirty="0" err="1">
                <a:solidFill>
                  <a:srgbClr val="303030"/>
                </a:solidFill>
                <a:effectLst/>
                <a:latin typeface="KaTeX_Math"/>
              </a:rPr>
              <a:t>SOx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KaTeX_Main"/>
              </a:rPr>
              <a:t>​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 or amines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and potential </a:t>
            </a:r>
            <a:r>
              <a:rPr lang="en-IN" sz="1400" b="1" i="0" dirty="0">
                <a:solidFill>
                  <a:srgbClr val="303030"/>
                </a:solidFill>
                <a:effectLst/>
                <a:latin typeface="Google Sans Text"/>
              </a:rPr>
              <a:t>side reactions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(like methanation or </a:t>
            </a:r>
            <a:r>
              <a:rPr lang="en-IN" sz="1400" b="0" i="1" dirty="0">
                <a:solidFill>
                  <a:srgbClr val="303030"/>
                </a:solidFill>
                <a:effectLst/>
                <a:latin typeface="KaTeX_Math"/>
              </a:rPr>
              <a:t>NOx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KaTeX_Main"/>
              </a:rPr>
              <a:t>​</a:t>
            </a:r>
            <a:r>
              <a:rPr lang="en-IN" sz="1400" b="0" i="0" dirty="0">
                <a:solidFill>
                  <a:srgbClr val="303030"/>
                </a:solidFill>
                <a:effectLst/>
                <a:latin typeface="Google Sans Text"/>
              </a:rPr>
              <a:t> hydrogenation) requires deep expertise from Catalyst Technology Subject Matter Experts (SMEs) to develop the necessary technical specification sheets and mitigation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DAD89-7C2A-B0D9-912B-833914B28F98}"/>
              </a:ext>
            </a:extLst>
          </p:cNvPr>
          <p:cNvSpPr txBox="1"/>
          <p:nvPr/>
        </p:nvSpPr>
        <p:spPr>
          <a:xfrm>
            <a:off x="717754" y="3695988"/>
            <a:ext cx="609600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2.1 Collaboration Framework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593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86CE09-640E-ECC7-E0B1-6C3764437B20}"/>
              </a:ext>
            </a:extLst>
          </p:cNvPr>
          <p:cNvSpPr txBox="1"/>
          <p:nvPr/>
        </p:nvSpPr>
        <p:spPr>
          <a:xfrm>
            <a:off x="570271" y="493997"/>
            <a:ext cx="6096000" cy="5870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Joint Approach &amp; Methodology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 how both teams worked together.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Phases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Problem Identification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Requirement Alignment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Joint Development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Testing &amp; Validation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Deployment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Visual:</a:t>
            </a: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Timeline or workflow arrow.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Highlight: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Regular review meetings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Knowledge sharing sessions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Joint decision-making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Feedback loops</a:t>
            </a:r>
          </a:p>
        </p:txBody>
      </p:sp>
    </p:spTree>
    <p:extLst>
      <p:ext uri="{BB962C8B-B14F-4D97-AF65-F5344CB8AC3E}">
        <p14:creationId xmlns:p14="http://schemas.microsoft.com/office/powerpoint/2010/main" val="3306752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</Words>
  <Application>Microsoft Office PowerPoint</Application>
  <PresentationFormat>Widescreen</PresentationFormat>
  <Paragraphs>29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Google Sans Text</vt:lpstr>
      <vt:lpstr>KaTeX_Main</vt:lpstr>
      <vt:lpstr>KaTeX_Math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sasmal</dc:creator>
  <cp:lastModifiedBy>sankar sasmal</cp:lastModifiedBy>
  <cp:revision>1</cp:revision>
  <dcterms:created xsi:type="dcterms:W3CDTF">2026-07-06T17:10:49Z</dcterms:created>
  <dcterms:modified xsi:type="dcterms:W3CDTF">2026-07-06T17:10:56Z</dcterms:modified>
</cp:coreProperties>
</file>